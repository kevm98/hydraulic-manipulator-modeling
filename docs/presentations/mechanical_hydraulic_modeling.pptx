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76" r:id="rId6"/>
    <p:sldId id="260" r:id="rId7"/>
    <p:sldId id="269" r:id="rId8"/>
    <p:sldId id="261" r:id="rId9"/>
    <p:sldId id="270" r:id="rId10"/>
    <p:sldId id="262" r:id="rId11"/>
    <p:sldId id="263" r:id="rId12"/>
    <p:sldId id="264" r:id="rId13"/>
    <p:sldId id="271" r:id="rId14"/>
    <p:sldId id="265" r:id="rId15"/>
    <p:sldId id="272" r:id="rId16"/>
    <p:sldId id="266" r:id="rId17"/>
    <p:sldId id="273" r:id="rId18"/>
    <p:sldId id="274" r:id="rId19"/>
    <p:sldId id="275" r:id="rId20"/>
    <p:sldId id="268" r:id="rId21"/>
  </p:sldIdLst>
  <p:sldSz cx="9144000" cy="6858000" type="screen4x3"/>
  <p:notesSz cx="6858000" cy="9144000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7289"/>
    <a:srgbClr val="005F8C"/>
    <a:srgbClr val="B92819"/>
    <a:srgbClr val="E31B4C"/>
    <a:srgbClr val="042C58"/>
    <a:srgbClr val="77B6BA"/>
    <a:srgbClr val="828C96"/>
    <a:srgbClr val="FFFF00"/>
    <a:srgbClr val="4EBCCE"/>
    <a:srgbClr val="47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8" autoAdjust="0"/>
    <p:restoredTop sz="94660"/>
  </p:normalViewPr>
  <p:slideViewPr>
    <p:cSldViewPr>
      <p:cViewPr>
        <p:scale>
          <a:sx n="100" d="100"/>
          <a:sy n="100" d="100"/>
        </p:scale>
        <p:origin x="1364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83" d="100"/>
          <a:sy n="183" d="100"/>
        </p:scale>
        <p:origin x="7398" y="1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7D05A7-E165-4178-B3CA-D1E019853487}" type="doc">
      <dgm:prSet loTypeId="urn:microsoft.com/office/officeart/2005/8/layout/vList2" loCatId="list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FED2984-5DCB-4B64-AB5F-604E183885FA}">
      <dgm:prSet/>
      <dgm:spPr/>
      <dgm:t>
        <a:bodyPr/>
        <a:lstStyle/>
        <a:p>
          <a:r>
            <a:rPr lang="de-DE" b="1" dirty="0"/>
            <a:t>Introduction and Motivation </a:t>
          </a:r>
          <a:endParaRPr lang="en-US" b="1" dirty="0"/>
        </a:p>
      </dgm:t>
    </dgm:pt>
    <dgm:pt modelId="{887825CF-226C-44A9-9BC1-EFC8C1B04D88}" type="parTrans" cxnId="{EDEB9685-8E4C-4191-AAC8-55018FA5F71D}">
      <dgm:prSet/>
      <dgm:spPr/>
      <dgm:t>
        <a:bodyPr/>
        <a:lstStyle/>
        <a:p>
          <a:endParaRPr lang="en-US"/>
        </a:p>
      </dgm:t>
    </dgm:pt>
    <dgm:pt modelId="{8183AC6D-ABCF-43DB-BF6E-16B21C878EBA}" type="sibTrans" cxnId="{EDEB9685-8E4C-4191-AAC8-55018FA5F71D}">
      <dgm:prSet/>
      <dgm:spPr/>
      <dgm:t>
        <a:bodyPr/>
        <a:lstStyle/>
        <a:p>
          <a:endParaRPr lang="en-US"/>
        </a:p>
      </dgm:t>
    </dgm:pt>
    <dgm:pt modelId="{A2683CBB-D0F9-4F8F-9E47-DD60A6599956}">
      <dgm:prSet/>
      <dgm:spPr/>
      <dgm:t>
        <a:bodyPr/>
        <a:lstStyle/>
        <a:p>
          <a:r>
            <a:rPr lang="de-DE" b="1" dirty="0"/>
            <a:t>Theoratical Background </a:t>
          </a:r>
          <a:endParaRPr lang="en-US" b="1" dirty="0"/>
        </a:p>
      </dgm:t>
    </dgm:pt>
    <dgm:pt modelId="{F9262B68-CF33-40DA-ABE3-9CB7230CDD66}" type="parTrans" cxnId="{38E99D5F-14E2-45ED-8FD2-72D76A8AFDB0}">
      <dgm:prSet/>
      <dgm:spPr/>
      <dgm:t>
        <a:bodyPr/>
        <a:lstStyle/>
        <a:p>
          <a:endParaRPr lang="en-US"/>
        </a:p>
      </dgm:t>
    </dgm:pt>
    <dgm:pt modelId="{E2A8CE99-38DF-49CC-95CC-FA2048C48B41}" type="sibTrans" cxnId="{38E99D5F-14E2-45ED-8FD2-72D76A8AFDB0}">
      <dgm:prSet/>
      <dgm:spPr/>
      <dgm:t>
        <a:bodyPr/>
        <a:lstStyle/>
        <a:p>
          <a:endParaRPr lang="en-US"/>
        </a:p>
      </dgm:t>
    </dgm:pt>
    <dgm:pt modelId="{B7D76855-520A-4FE7-AB7F-F599E43B2504}">
      <dgm:prSet/>
      <dgm:spPr/>
      <dgm:t>
        <a:bodyPr/>
        <a:lstStyle/>
        <a:p>
          <a:r>
            <a:rPr lang="de-DE" b="1" dirty="0"/>
            <a:t>Mechanical Subsystem </a:t>
          </a:r>
          <a:endParaRPr lang="en-US" b="1" dirty="0"/>
        </a:p>
      </dgm:t>
    </dgm:pt>
    <dgm:pt modelId="{A6D5EE56-E7E4-4BB0-A97D-ED272F1BB0C7}" type="parTrans" cxnId="{0BED6889-F53F-4BDD-929E-958543FCB9E5}">
      <dgm:prSet/>
      <dgm:spPr/>
      <dgm:t>
        <a:bodyPr/>
        <a:lstStyle/>
        <a:p>
          <a:endParaRPr lang="en-US"/>
        </a:p>
      </dgm:t>
    </dgm:pt>
    <dgm:pt modelId="{7D018E33-20E4-4CC0-8DC8-48BE900F736C}" type="sibTrans" cxnId="{0BED6889-F53F-4BDD-929E-958543FCB9E5}">
      <dgm:prSet/>
      <dgm:spPr/>
      <dgm:t>
        <a:bodyPr/>
        <a:lstStyle/>
        <a:p>
          <a:endParaRPr lang="en-US"/>
        </a:p>
      </dgm:t>
    </dgm:pt>
    <dgm:pt modelId="{EA70C5E7-86BD-45B4-877B-3EB1F734264B}">
      <dgm:prSet/>
      <dgm:spPr/>
      <dgm:t>
        <a:bodyPr/>
        <a:lstStyle/>
        <a:p>
          <a:r>
            <a:rPr lang="de-DE" b="1" dirty="0"/>
            <a:t>Hydraulic Subsystem  </a:t>
          </a:r>
          <a:endParaRPr lang="en-US" b="1" dirty="0"/>
        </a:p>
      </dgm:t>
    </dgm:pt>
    <dgm:pt modelId="{6E87AC96-6A4C-40DC-BCAB-D760DE71C059}" type="parTrans" cxnId="{27856E74-02B2-4415-A3C2-4FF6AE3FB487}">
      <dgm:prSet/>
      <dgm:spPr/>
      <dgm:t>
        <a:bodyPr/>
        <a:lstStyle/>
        <a:p>
          <a:endParaRPr lang="en-US"/>
        </a:p>
      </dgm:t>
    </dgm:pt>
    <dgm:pt modelId="{D34AD013-F8B2-4CAE-BD1A-66944A2C73E5}" type="sibTrans" cxnId="{27856E74-02B2-4415-A3C2-4FF6AE3FB487}">
      <dgm:prSet/>
      <dgm:spPr/>
      <dgm:t>
        <a:bodyPr/>
        <a:lstStyle/>
        <a:p>
          <a:endParaRPr lang="en-US"/>
        </a:p>
      </dgm:t>
    </dgm:pt>
    <dgm:pt modelId="{6AD8B63D-9BF5-4B5C-BB72-5D4ACD5284F5}">
      <dgm:prSet/>
      <dgm:spPr/>
      <dgm:t>
        <a:bodyPr/>
        <a:lstStyle/>
        <a:p>
          <a:r>
            <a:rPr lang="de-DE" b="1" dirty="0"/>
            <a:t>Intergrated System </a:t>
          </a:r>
          <a:endParaRPr lang="en-US" b="1" dirty="0"/>
        </a:p>
      </dgm:t>
    </dgm:pt>
    <dgm:pt modelId="{6F7D5388-D505-442D-AF8B-74070B811A44}" type="parTrans" cxnId="{B770A83C-86D3-4036-B138-58249D6FEA32}">
      <dgm:prSet/>
      <dgm:spPr/>
      <dgm:t>
        <a:bodyPr/>
        <a:lstStyle/>
        <a:p>
          <a:endParaRPr lang="en-US"/>
        </a:p>
      </dgm:t>
    </dgm:pt>
    <dgm:pt modelId="{AD299DE8-193A-4891-948F-148547F0685B}" type="sibTrans" cxnId="{B770A83C-86D3-4036-B138-58249D6FEA32}">
      <dgm:prSet/>
      <dgm:spPr/>
      <dgm:t>
        <a:bodyPr/>
        <a:lstStyle/>
        <a:p>
          <a:endParaRPr lang="en-US"/>
        </a:p>
      </dgm:t>
    </dgm:pt>
    <dgm:pt modelId="{C9F2EE3B-5522-4F08-B8C6-CDED5A86FE46}">
      <dgm:prSet/>
      <dgm:spPr/>
      <dgm:t>
        <a:bodyPr/>
        <a:lstStyle/>
        <a:p>
          <a:r>
            <a:rPr lang="de-DE" b="1" dirty="0"/>
            <a:t>Control Design</a:t>
          </a:r>
        </a:p>
        <a:p>
          <a:endParaRPr lang="en-US" dirty="0"/>
        </a:p>
      </dgm:t>
    </dgm:pt>
    <dgm:pt modelId="{AE8080EF-2F51-4C61-978C-B174D2EF80E3}" type="parTrans" cxnId="{0F46061F-E88F-48A4-8A49-B3AB7A6300A9}">
      <dgm:prSet/>
      <dgm:spPr/>
      <dgm:t>
        <a:bodyPr/>
        <a:lstStyle/>
        <a:p>
          <a:endParaRPr lang="en-US"/>
        </a:p>
      </dgm:t>
    </dgm:pt>
    <dgm:pt modelId="{C4809F43-A1E3-4608-BC18-9B8A4AD810E8}" type="sibTrans" cxnId="{0F46061F-E88F-48A4-8A49-B3AB7A6300A9}">
      <dgm:prSet/>
      <dgm:spPr/>
      <dgm:t>
        <a:bodyPr/>
        <a:lstStyle/>
        <a:p>
          <a:endParaRPr lang="en-US"/>
        </a:p>
      </dgm:t>
    </dgm:pt>
    <dgm:pt modelId="{AF860288-20EA-4B7C-BE02-A61DBBD82ABC}">
      <dgm:prSet/>
      <dgm:spPr/>
      <dgm:t>
        <a:bodyPr/>
        <a:lstStyle/>
        <a:p>
          <a:r>
            <a:rPr lang="de-DE" b="1" dirty="0"/>
            <a:t>Simulation and Results Analysis </a:t>
          </a:r>
          <a:endParaRPr lang="en-US" b="1" dirty="0"/>
        </a:p>
      </dgm:t>
    </dgm:pt>
    <dgm:pt modelId="{9DA0C251-C507-408E-B204-ABB900D74C44}" type="parTrans" cxnId="{422B3597-82D2-4905-B955-5AB3D3799F31}">
      <dgm:prSet/>
      <dgm:spPr/>
      <dgm:t>
        <a:bodyPr/>
        <a:lstStyle/>
        <a:p>
          <a:endParaRPr lang="en-US"/>
        </a:p>
      </dgm:t>
    </dgm:pt>
    <dgm:pt modelId="{F4F3D278-FF6F-4239-9A70-5385E550E6C6}" type="sibTrans" cxnId="{422B3597-82D2-4905-B955-5AB3D3799F31}">
      <dgm:prSet/>
      <dgm:spPr/>
      <dgm:t>
        <a:bodyPr/>
        <a:lstStyle/>
        <a:p>
          <a:endParaRPr lang="en-US"/>
        </a:p>
      </dgm:t>
    </dgm:pt>
    <dgm:pt modelId="{4EC1DFA7-FA47-47FD-BEF9-52293DEE1675}">
      <dgm:prSet/>
      <dgm:spPr/>
      <dgm:t>
        <a:bodyPr/>
        <a:lstStyle/>
        <a:p>
          <a:r>
            <a:rPr lang="de-DE" b="1" dirty="0"/>
            <a:t>Conclusion and Future Work </a:t>
          </a:r>
          <a:endParaRPr lang="en-US" b="1" dirty="0"/>
        </a:p>
      </dgm:t>
    </dgm:pt>
    <dgm:pt modelId="{0D208D90-CBF7-4264-929B-9F0C1DC7D7C6}" type="parTrans" cxnId="{49990B47-4035-43C5-94B8-54E3B80CEB4F}">
      <dgm:prSet/>
      <dgm:spPr/>
      <dgm:t>
        <a:bodyPr/>
        <a:lstStyle/>
        <a:p>
          <a:endParaRPr lang="en-US"/>
        </a:p>
      </dgm:t>
    </dgm:pt>
    <dgm:pt modelId="{70721918-84F4-459D-BB5B-791BE5CF5AA5}" type="sibTrans" cxnId="{49990B47-4035-43C5-94B8-54E3B80CEB4F}">
      <dgm:prSet/>
      <dgm:spPr/>
      <dgm:t>
        <a:bodyPr/>
        <a:lstStyle/>
        <a:p>
          <a:endParaRPr lang="en-US"/>
        </a:p>
      </dgm:t>
    </dgm:pt>
    <dgm:pt modelId="{5668C3E0-A1F9-4C0C-8F41-DA69A312C291}">
      <dgm:prSet/>
      <dgm:spPr/>
      <dgm:t>
        <a:bodyPr/>
        <a:lstStyle/>
        <a:p>
          <a:r>
            <a:rPr lang="de-DE" b="1" dirty="0"/>
            <a:t>Validation Strategy </a:t>
          </a:r>
          <a:endParaRPr lang="en-US" b="1" dirty="0"/>
        </a:p>
      </dgm:t>
    </dgm:pt>
    <dgm:pt modelId="{D3FA34C4-4BF4-484A-8089-E9B4E45A0B75}" type="parTrans" cxnId="{AA240765-E8FD-4415-8002-1B80A80843CF}">
      <dgm:prSet/>
      <dgm:spPr/>
      <dgm:t>
        <a:bodyPr/>
        <a:lstStyle/>
        <a:p>
          <a:endParaRPr lang="en-US"/>
        </a:p>
      </dgm:t>
    </dgm:pt>
    <dgm:pt modelId="{46ED0C6C-D6D5-4EB1-B03E-7C04ABF99FAD}" type="sibTrans" cxnId="{AA240765-E8FD-4415-8002-1B80A80843CF}">
      <dgm:prSet/>
      <dgm:spPr/>
      <dgm:t>
        <a:bodyPr/>
        <a:lstStyle/>
        <a:p>
          <a:endParaRPr lang="en-US"/>
        </a:p>
      </dgm:t>
    </dgm:pt>
    <dgm:pt modelId="{5DED93AF-1B5C-40A2-969F-8A955C1DF8E9}" type="pres">
      <dgm:prSet presAssocID="{AE7D05A7-E165-4178-B3CA-D1E019853487}" presName="linear" presStyleCnt="0">
        <dgm:presLayoutVars>
          <dgm:animLvl val="lvl"/>
          <dgm:resizeHandles val="exact"/>
        </dgm:presLayoutVars>
      </dgm:prSet>
      <dgm:spPr/>
    </dgm:pt>
    <dgm:pt modelId="{540B9592-11AE-44C0-B7A4-C6D3A5D7CA84}" type="pres">
      <dgm:prSet presAssocID="{DFED2984-5DCB-4B64-AB5F-604E183885FA}" presName="parentText" presStyleLbl="node1" presStyleIdx="0" presStyleCnt="9" custLinFactNeighborX="18240" custLinFactNeighborY="-22174">
        <dgm:presLayoutVars>
          <dgm:chMax val="0"/>
          <dgm:bulletEnabled val="1"/>
        </dgm:presLayoutVars>
      </dgm:prSet>
      <dgm:spPr/>
    </dgm:pt>
    <dgm:pt modelId="{F58351C7-1F1E-4ED7-B173-E1FED8AA251E}" type="pres">
      <dgm:prSet presAssocID="{8183AC6D-ABCF-43DB-BF6E-16B21C878EBA}" presName="spacer" presStyleCnt="0"/>
      <dgm:spPr/>
    </dgm:pt>
    <dgm:pt modelId="{B1D11219-D0A3-4085-80DC-45D1CFEA6546}" type="pres">
      <dgm:prSet presAssocID="{A2683CBB-D0F9-4F8F-9E47-DD60A6599956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8E533C7A-C6D2-473C-A27B-2A4794EFB714}" type="pres">
      <dgm:prSet presAssocID="{E2A8CE99-38DF-49CC-95CC-FA2048C48B41}" presName="spacer" presStyleCnt="0"/>
      <dgm:spPr/>
    </dgm:pt>
    <dgm:pt modelId="{775F6BA9-6173-4487-ADF5-47C445AE72BF}" type="pres">
      <dgm:prSet presAssocID="{B7D76855-520A-4FE7-AB7F-F599E43B2504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E2E17E40-AB52-46BE-98E3-6BEB91591588}" type="pres">
      <dgm:prSet presAssocID="{7D018E33-20E4-4CC0-8DC8-48BE900F736C}" presName="spacer" presStyleCnt="0"/>
      <dgm:spPr/>
    </dgm:pt>
    <dgm:pt modelId="{F9F3C62E-2142-416E-B6DF-58EE556469F1}" type="pres">
      <dgm:prSet presAssocID="{EA70C5E7-86BD-45B4-877B-3EB1F734264B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2EE024FF-1D2E-44EE-9E80-8AE4ECE9D0DA}" type="pres">
      <dgm:prSet presAssocID="{D34AD013-F8B2-4CAE-BD1A-66944A2C73E5}" presName="spacer" presStyleCnt="0"/>
      <dgm:spPr/>
    </dgm:pt>
    <dgm:pt modelId="{CCC648E7-81FE-4F21-BDCC-E37B2F437861}" type="pres">
      <dgm:prSet presAssocID="{6AD8B63D-9BF5-4B5C-BB72-5D4ACD5284F5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80BBF5B6-CB80-459D-9B17-92CD3EF84416}" type="pres">
      <dgm:prSet presAssocID="{AD299DE8-193A-4891-948F-148547F0685B}" presName="spacer" presStyleCnt="0"/>
      <dgm:spPr/>
    </dgm:pt>
    <dgm:pt modelId="{78F3FEF5-F17F-405E-8933-444F3BEF2625}" type="pres">
      <dgm:prSet presAssocID="{C9F2EE3B-5522-4F08-B8C6-CDED5A86FE46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A339C5A-086B-47EE-B542-47E9E21A609E}" type="pres">
      <dgm:prSet presAssocID="{C4809F43-A1E3-4608-BC18-9B8A4AD810E8}" presName="spacer" presStyleCnt="0"/>
      <dgm:spPr/>
    </dgm:pt>
    <dgm:pt modelId="{22B06903-A9D3-43B7-869D-9D6186DD45A9}" type="pres">
      <dgm:prSet presAssocID="{5668C3E0-A1F9-4C0C-8F41-DA69A312C291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63FC4253-6448-45FE-81C3-339AEE5B4BC5}" type="pres">
      <dgm:prSet presAssocID="{46ED0C6C-D6D5-4EB1-B03E-7C04ABF99FAD}" presName="spacer" presStyleCnt="0"/>
      <dgm:spPr/>
    </dgm:pt>
    <dgm:pt modelId="{FF6A2673-CFA8-49B9-8CEC-FAE3CD5F87A8}" type="pres">
      <dgm:prSet presAssocID="{AF860288-20EA-4B7C-BE02-A61DBBD82ABC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E284D3A9-B831-451C-AA80-151E95EE89AD}" type="pres">
      <dgm:prSet presAssocID="{F4F3D278-FF6F-4239-9A70-5385E550E6C6}" presName="spacer" presStyleCnt="0"/>
      <dgm:spPr/>
    </dgm:pt>
    <dgm:pt modelId="{BF71613A-8296-4823-B6E4-6404E848E157}" type="pres">
      <dgm:prSet presAssocID="{4EC1DFA7-FA47-47FD-BEF9-52293DEE1675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CEBD4115-B3DF-4D6B-879A-B859B0D20D53}" type="presOf" srcId="{AF860288-20EA-4B7C-BE02-A61DBBD82ABC}" destId="{FF6A2673-CFA8-49B9-8CEC-FAE3CD5F87A8}" srcOrd="0" destOrd="0" presId="urn:microsoft.com/office/officeart/2005/8/layout/vList2"/>
    <dgm:cxn modelId="{0F46061F-E88F-48A4-8A49-B3AB7A6300A9}" srcId="{AE7D05A7-E165-4178-B3CA-D1E019853487}" destId="{C9F2EE3B-5522-4F08-B8C6-CDED5A86FE46}" srcOrd="5" destOrd="0" parTransId="{AE8080EF-2F51-4C61-978C-B174D2EF80E3}" sibTransId="{C4809F43-A1E3-4608-BC18-9B8A4AD810E8}"/>
    <dgm:cxn modelId="{B770A83C-86D3-4036-B138-58249D6FEA32}" srcId="{AE7D05A7-E165-4178-B3CA-D1E019853487}" destId="{6AD8B63D-9BF5-4B5C-BB72-5D4ACD5284F5}" srcOrd="4" destOrd="0" parTransId="{6F7D5388-D505-442D-AF8B-74070B811A44}" sibTransId="{AD299DE8-193A-4891-948F-148547F0685B}"/>
    <dgm:cxn modelId="{15DCBB3D-E702-469F-AE34-0A7C02211133}" type="presOf" srcId="{4EC1DFA7-FA47-47FD-BEF9-52293DEE1675}" destId="{BF71613A-8296-4823-B6E4-6404E848E157}" srcOrd="0" destOrd="0" presId="urn:microsoft.com/office/officeart/2005/8/layout/vList2"/>
    <dgm:cxn modelId="{38E99D5F-14E2-45ED-8FD2-72D76A8AFDB0}" srcId="{AE7D05A7-E165-4178-B3CA-D1E019853487}" destId="{A2683CBB-D0F9-4F8F-9E47-DD60A6599956}" srcOrd="1" destOrd="0" parTransId="{F9262B68-CF33-40DA-ABE3-9CB7230CDD66}" sibTransId="{E2A8CE99-38DF-49CC-95CC-FA2048C48B41}"/>
    <dgm:cxn modelId="{AA240765-E8FD-4415-8002-1B80A80843CF}" srcId="{AE7D05A7-E165-4178-B3CA-D1E019853487}" destId="{5668C3E0-A1F9-4C0C-8F41-DA69A312C291}" srcOrd="6" destOrd="0" parTransId="{D3FA34C4-4BF4-484A-8089-E9B4E45A0B75}" sibTransId="{46ED0C6C-D6D5-4EB1-B03E-7C04ABF99FAD}"/>
    <dgm:cxn modelId="{49990B47-4035-43C5-94B8-54E3B80CEB4F}" srcId="{AE7D05A7-E165-4178-B3CA-D1E019853487}" destId="{4EC1DFA7-FA47-47FD-BEF9-52293DEE1675}" srcOrd="8" destOrd="0" parTransId="{0D208D90-CBF7-4264-929B-9F0C1DC7D7C6}" sibTransId="{70721918-84F4-459D-BB5B-791BE5CF5AA5}"/>
    <dgm:cxn modelId="{39E3D868-5CD8-4A16-BD82-D7AFDF320157}" type="presOf" srcId="{B7D76855-520A-4FE7-AB7F-F599E43B2504}" destId="{775F6BA9-6173-4487-ADF5-47C445AE72BF}" srcOrd="0" destOrd="0" presId="urn:microsoft.com/office/officeart/2005/8/layout/vList2"/>
    <dgm:cxn modelId="{5E0FBB73-FD7A-4B67-BC8A-0943798B220B}" type="presOf" srcId="{C9F2EE3B-5522-4F08-B8C6-CDED5A86FE46}" destId="{78F3FEF5-F17F-405E-8933-444F3BEF2625}" srcOrd="0" destOrd="0" presId="urn:microsoft.com/office/officeart/2005/8/layout/vList2"/>
    <dgm:cxn modelId="{27856E74-02B2-4415-A3C2-4FF6AE3FB487}" srcId="{AE7D05A7-E165-4178-B3CA-D1E019853487}" destId="{EA70C5E7-86BD-45B4-877B-3EB1F734264B}" srcOrd="3" destOrd="0" parTransId="{6E87AC96-6A4C-40DC-BCAB-D760DE71C059}" sibTransId="{D34AD013-F8B2-4CAE-BD1A-66944A2C73E5}"/>
    <dgm:cxn modelId="{6BAA0283-4670-4969-9C1C-A83BDC894759}" type="presOf" srcId="{5668C3E0-A1F9-4C0C-8F41-DA69A312C291}" destId="{22B06903-A9D3-43B7-869D-9D6186DD45A9}" srcOrd="0" destOrd="0" presId="urn:microsoft.com/office/officeart/2005/8/layout/vList2"/>
    <dgm:cxn modelId="{EDEB9685-8E4C-4191-AAC8-55018FA5F71D}" srcId="{AE7D05A7-E165-4178-B3CA-D1E019853487}" destId="{DFED2984-5DCB-4B64-AB5F-604E183885FA}" srcOrd="0" destOrd="0" parTransId="{887825CF-226C-44A9-9BC1-EFC8C1B04D88}" sibTransId="{8183AC6D-ABCF-43DB-BF6E-16B21C878EBA}"/>
    <dgm:cxn modelId="{0BED6889-F53F-4BDD-929E-958543FCB9E5}" srcId="{AE7D05A7-E165-4178-B3CA-D1E019853487}" destId="{B7D76855-520A-4FE7-AB7F-F599E43B2504}" srcOrd="2" destOrd="0" parTransId="{A6D5EE56-E7E4-4BB0-A97D-ED272F1BB0C7}" sibTransId="{7D018E33-20E4-4CC0-8DC8-48BE900F736C}"/>
    <dgm:cxn modelId="{6167B68B-2869-4617-B781-5296A712A6F6}" type="presOf" srcId="{DFED2984-5DCB-4B64-AB5F-604E183885FA}" destId="{540B9592-11AE-44C0-B7A4-C6D3A5D7CA84}" srcOrd="0" destOrd="0" presId="urn:microsoft.com/office/officeart/2005/8/layout/vList2"/>
    <dgm:cxn modelId="{422B3597-82D2-4905-B955-5AB3D3799F31}" srcId="{AE7D05A7-E165-4178-B3CA-D1E019853487}" destId="{AF860288-20EA-4B7C-BE02-A61DBBD82ABC}" srcOrd="7" destOrd="0" parTransId="{9DA0C251-C507-408E-B204-ABB900D74C44}" sibTransId="{F4F3D278-FF6F-4239-9A70-5385E550E6C6}"/>
    <dgm:cxn modelId="{DD901B9E-AD6A-4C4F-A716-6867872F1343}" type="presOf" srcId="{AE7D05A7-E165-4178-B3CA-D1E019853487}" destId="{5DED93AF-1B5C-40A2-969F-8A955C1DF8E9}" srcOrd="0" destOrd="0" presId="urn:microsoft.com/office/officeart/2005/8/layout/vList2"/>
    <dgm:cxn modelId="{6712CCB1-D618-454F-BDDC-9DD2C0BB71D0}" type="presOf" srcId="{6AD8B63D-9BF5-4B5C-BB72-5D4ACD5284F5}" destId="{CCC648E7-81FE-4F21-BDCC-E37B2F437861}" srcOrd="0" destOrd="0" presId="urn:microsoft.com/office/officeart/2005/8/layout/vList2"/>
    <dgm:cxn modelId="{0EA316C4-534B-4768-8433-472AD938C125}" type="presOf" srcId="{EA70C5E7-86BD-45B4-877B-3EB1F734264B}" destId="{F9F3C62E-2142-416E-B6DF-58EE556469F1}" srcOrd="0" destOrd="0" presId="urn:microsoft.com/office/officeart/2005/8/layout/vList2"/>
    <dgm:cxn modelId="{56422CF6-AEBD-43FD-A55A-CB5F16BE0F91}" type="presOf" srcId="{A2683CBB-D0F9-4F8F-9E47-DD60A6599956}" destId="{B1D11219-D0A3-4085-80DC-45D1CFEA6546}" srcOrd="0" destOrd="0" presId="urn:microsoft.com/office/officeart/2005/8/layout/vList2"/>
    <dgm:cxn modelId="{8C9B0259-F4A5-4B3C-A141-B2E89AE47DE5}" type="presParOf" srcId="{5DED93AF-1B5C-40A2-969F-8A955C1DF8E9}" destId="{540B9592-11AE-44C0-B7A4-C6D3A5D7CA84}" srcOrd="0" destOrd="0" presId="urn:microsoft.com/office/officeart/2005/8/layout/vList2"/>
    <dgm:cxn modelId="{3FAC3B5F-8E90-4AE8-8E45-DF962F04350E}" type="presParOf" srcId="{5DED93AF-1B5C-40A2-969F-8A955C1DF8E9}" destId="{F58351C7-1F1E-4ED7-B173-E1FED8AA251E}" srcOrd="1" destOrd="0" presId="urn:microsoft.com/office/officeart/2005/8/layout/vList2"/>
    <dgm:cxn modelId="{9435B95F-ECEE-466B-AC93-BE5E4A36F922}" type="presParOf" srcId="{5DED93AF-1B5C-40A2-969F-8A955C1DF8E9}" destId="{B1D11219-D0A3-4085-80DC-45D1CFEA6546}" srcOrd="2" destOrd="0" presId="urn:microsoft.com/office/officeart/2005/8/layout/vList2"/>
    <dgm:cxn modelId="{A59B32D7-2C55-4F68-9141-1A84FC6FE3AD}" type="presParOf" srcId="{5DED93AF-1B5C-40A2-969F-8A955C1DF8E9}" destId="{8E533C7A-C6D2-473C-A27B-2A4794EFB714}" srcOrd="3" destOrd="0" presId="urn:microsoft.com/office/officeart/2005/8/layout/vList2"/>
    <dgm:cxn modelId="{5A561CA4-4E2F-47EE-ABE8-49FB6916B865}" type="presParOf" srcId="{5DED93AF-1B5C-40A2-969F-8A955C1DF8E9}" destId="{775F6BA9-6173-4487-ADF5-47C445AE72BF}" srcOrd="4" destOrd="0" presId="urn:microsoft.com/office/officeart/2005/8/layout/vList2"/>
    <dgm:cxn modelId="{032B4609-AD27-4FBF-969A-B41EB9970FFF}" type="presParOf" srcId="{5DED93AF-1B5C-40A2-969F-8A955C1DF8E9}" destId="{E2E17E40-AB52-46BE-98E3-6BEB91591588}" srcOrd="5" destOrd="0" presId="urn:microsoft.com/office/officeart/2005/8/layout/vList2"/>
    <dgm:cxn modelId="{1D1F7E25-FC5C-4B15-9392-071FA7C4EA2E}" type="presParOf" srcId="{5DED93AF-1B5C-40A2-969F-8A955C1DF8E9}" destId="{F9F3C62E-2142-416E-B6DF-58EE556469F1}" srcOrd="6" destOrd="0" presId="urn:microsoft.com/office/officeart/2005/8/layout/vList2"/>
    <dgm:cxn modelId="{7D8E7BB5-6A36-4568-820A-AE57D94DAE8B}" type="presParOf" srcId="{5DED93AF-1B5C-40A2-969F-8A955C1DF8E9}" destId="{2EE024FF-1D2E-44EE-9E80-8AE4ECE9D0DA}" srcOrd="7" destOrd="0" presId="urn:microsoft.com/office/officeart/2005/8/layout/vList2"/>
    <dgm:cxn modelId="{64E054AA-4597-4393-A3E2-37E275A985AB}" type="presParOf" srcId="{5DED93AF-1B5C-40A2-969F-8A955C1DF8E9}" destId="{CCC648E7-81FE-4F21-BDCC-E37B2F437861}" srcOrd="8" destOrd="0" presId="urn:microsoft.com/office/officeart/2005/8/layout/vList2"/>
    <dgm:cxn modelId="{55367671-4455-4E82-92AD-B49B508BCDED}" type="presParOf" srcId="{5DED93AF-1B5C-40A2-969F-8A955C1DF8E9}" destId="{80BBF5B6-CB80-459D-9B17-92CD3EF84416}" srcOrd="9" destOrd="0" presId="urn:microsoft.com/office/officeart/2005/8/layout/vList2"/>
    <dgm:cxn modelId="{C6154D6E-FB36-4EC6-84E2-6349C8A4A8B7}" type="presParOf" srcId="{5DED93AF-1B5C-40A2-969F-8A955C1DF8E9}" destId="{78F3FEF5-F17F-405E-8933-444F3BEF2625}" srcOrd="10" destOrd="0" presId="urn:microsoft.com/office/officeart/2005/8/layout/vList2"/>
    <dgm:cxn modelId="{669A3228-4E56-4C57-939E-F8A3FAE3D2D7}" type="presParOf" srcId="{5DED93AF-1B5C-40A2-969F-8A955C1DF8E9}" destId="{8A339C5A-086B-47EE-B542-47E9E21A609E}" srcOrd="11" destOrd="0" presId="urn:microsoft.com/office/officeart/2005/8/layout/vList2"/>
    <dgm:cxn modelId="{F3041387-0841-4152-8BF1-7F5CCA378AA0}" type="presParOf" srcId="{5DED93AF-1B5C-40A2-969F-8A955C1DF8E9}" destId="{22B06903-A9D3-43B7-869D-9D6186DD45A9}" srcOrd="12" destOrd="0" presId="urn:microsoft.com/office/officeart/2005/8/layout/vList2"/>
    <dgm:cxn modelId="{F4ACDE25-49BB-48E8-B389-EFC9211F94CD}" type="presParOf" srcId="{5DED93AF-1B5C-40A2-969F-8A955C1DF8E9}" destId="{63FC4253-6448-45FE-81C3-339AEE5B4BC5}" srcOrd="13" destOrd="0" presId="urn:microsoft.com/office/officeart/2005/8/layout/vList2"/>
    <dgm:cxn modelId="{0AA89AA6-EBDF-4AA6-A204-7C42C7E68CAD}" type="presParOf" srcId="{5DED93AF-1B5C-40A2-969F-8A955C1DF8E9}" destId="{FF6A2673-CFA8-49B9-8CEC-FAE3CD5F87A8}" srcOrd="14" destOrd="0" presId="urn:microsoft.com/office/officeart/2005/8/layout/vList2"/>
    <dgm:cxn modelId="{A083D7D0-1476-4B9E-BF7A-030AE6151A3E}" type="presParOf" srcId="{5DED93AF-1B5C-40A2-969F-8A955C1DF8E9}" destId="{E284D3A9-B831-451C-AA80-151E95EE89AD}" srcOrd="15" destOrd="0" presId="urn:microsoft.com/office/officeart/2005/8/layout/vList2"/>
    <dgm:cxn modelId="{C9C9F73D-2B46-4A84-8B6B-23133AA2AA47}" type="presParOf" srcId="{5DED93AF-1B5C-40A2-969F-8A955C1DF8E9}" destId="{BF71613A-8296-4823-B6E4-6404E848E15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3A8393-02AD-4F2B-9C5E-547ECB735B1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1CB46ED-D0E8-41E2-AAA0-08FD806BC265}">
      <dgm:prSet/>
      <dgm:spPr/>
      <dgm:t>
        <a:bodyPr/>
        <a:lstStyle/>
        <a:p>
          <a:r>
            <a:rPr lang="de-DE" b="1" u="sng" dirty="0">
              <a:latin typeface="Arial" panose="020B0604020202020204" pitchFamily="34" charset="0"/>
              <a:cs typeface="Arial" panose="020B0604020202020204" pitchFamily="34" charset="0"/>
            </a:rPr>
            <a:t>Hydraulic Nonlinearities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C61A09-FA17-4FFA-8FFE-0AF8CB7D8117}" type="parTrans" cxnId="{87C49E39-B13E-4C18-B022-58547103B151}">
      <dgm:prSet/>
      <dgm:spPr/>
      <dgm:t>
        <a:bodyPr/>
        <a:lstStyle/>
        <a:p>
          <a:endParaRPr lang="en-US"/>
        </a:p>
      </dgm:t>
    </dgm:pt>
    <dgm:pt modelId="{FBCCB7B9-806F-45A4-AF0F-FDD9756004CA}" type="sibTrans" cxnId="{87C49E39-B13E-4C18-B022-58547103B151}">
      <dgm:prSet/>
      <dgm:spPr/>
      <dgm:t>
        <a:bodyPr/>
        <a:lstStyle/>
        <a:p>
          <a:endParaRPr lang="en-US"/>
        </a:p>
      </dgm:t>
    </dgm:pt>
    <dgm:pt modelId="{BDA0291F-80C7-46A5-8F5C-5343930D1756}">
      <dgm:prSet/>
      <dgm:spPr/>
      <dgm:t>
        <a:bodyPr/>
        <a:lstStyle/>
        <a:p>
          <a:r>
            <a:rPr lang="en-US" dirty="0"/>
            <a:t>The system is governed by nonlinearities such as </a:t>
          </a:r>
          <a:r>
            <a:rPr lang="en-US" b="1" i="1" dirty="0"/>
            <a:t>bulk modulus </a:t>
          </a:r>
          <a:r>
            <a:rPr lang="en-US" dirty="0"/>
            <a:t>and </a:t>
          </a:r>
          <a:r>
            <a:rPr lang="en-US" dirty="0" err="1"/>
            <a:t>stribeck</a:t>
          </a:r>
          <a:r>
            <a:rPr lang="en-US" dirty="0"/>
            <a:t> friction.</a:t>
          </a:r>
        </a:p>
      </dgm:t>
    </dgm:pt>
    <dgm:pt modelId="{2A74B728-82A8-4EA2-83E9-B787DEC3DEEE}" type="parTrans" cxnId="{C6CF55B9-96C6-45D8-B338-F37F4420525A}">
      <dgm:prSet/>
      <dgm:spPr/>
      <dgm:t>
        <a:bodyPr/>
        <a:lstStyle/>
        <a:p>
          <a:endParaRPr lang="en-US"/>
        </a:p>
      </dgm:t>
    </dgm:pt>
    <dgm:pt modelId="{418E6691-3817-47EF-B0A8-B62F14BB726A}" type="sibTrans" cxnId="{C6CF55B9-96C6-45D8-B338-F37F4420525A}">
      <dgm:prSet/>
      <dgm:spPr/>
      <dgm:t>
        <a:bodyPr/>
        <a:lstStyle/>
        <a:p>
          <a:endParaRPr lang="en-US"/>
        </a:p>
      </dgm:t>
    </dgm:pt>
    <dgm:pt modelId="{50C16209-0C62-4483-9B29-6BCE3AB21C36}">
      <dgm:prSet/>
      <dgm:spPr/>
      <dgm:t>
        <a:bodyPr/>
        <a:lstStyle/>
        <a:p>
          <a:r>
            <a:rPr lang="en-US" b="1" u="sng"/>
            <a:t>Modeling Philosophy</a:t>
          </a:r>
          <a:endParaRPr lang="en-US"/>
        </a:p>
      </dgm:t>
    </dgm:pt>
    <dgm:pt modelId="{10940CB2-6B7D-44C3-B7AE-69E031317389}" type="parTrans" cxnId="{99A0E583-F046-4785-99AE-5E794F228C06}">
      <dgm:prSet/>
      <dgm:spPr/>
      <dgm:t>
        <a:bodyPr/>
        <a:lstStyle/>
        <a:p>
          <a:endParaRPr lang="en-US"/>
        </a:p>
      </dgm:t>
    </dgm:pt>
    <dgm:pt modelId="{E6E05508-7D72-4062-8AB4-A73EA12EA610}" type="sibTrans" cxnId="{99A0E583-F046-4785-99AE-5E794F228C06}">
      <dgm:prSet/>
      <dgm:spPr/>
      <dgm:t>
        <a:bodyPr/>
        <a:lstStyle/>
        <a:p>
          <a:endParaRPr lang="en-US"/>
        </a:p>
      </dgm:t>
    </dgm:pt>
    <dgm:pt modelId="{C2438F76-B29F-4940-98D8-DF8961B2DC68}">
      <dgm:prSet/>
      <dgm:spPr/>
      <dgm:t>
        <a:bodyPr/>
        <a:lstStyle/>
        <a:p>
          <a:r>
            <a:rPr lang="de-DE" dirty="0"/>
            <a:t>The approach is physical modeling. Simscape is used to solve the rigid multibody mechanics and hydraulic networks simultaneously ensuring energy conservation across dormains. </a:t>
          </a:r>
          <a:endParaRPr lang="en-US" dirty="0"/>
        </a:p>
      </dgm:t>
    </dgm:pt>
    <dgm:pt modelId="{BCA2A85C-87D3-4A6D-97B6-05B4F846FEE2}" type="parTrans" cxnId="{AB935202-D19B-4FD5-90AB-AEAF36AB0B1F}">
      <dgm:prSet/>
      <dgm:spPr/>
      <dgm:t>
        <a:bodyPr/>
        <a:lstStyle/>
        <a:p>
          <a:endParaRPr lang="en-US"/>
        </a:p>
      </dgm:t>
    </dgm:pt>
    <dgm:pt modelId="{ACBBF8CB-E442-4AEA-BCA5-A13BB4B81127}" type="sibTrans" cxnId="{AB935202-D19B-4FD5-90AB-AEAF36AB0B1F}">
      <dgm:prSet/>
      <dgm:spPr/>
      <dgm:t>
        <a:bodyPr/>
        <a:lstStyle/>
        <a:p>
          <a:endParaRPr lang="en-US"/>
        </a:p>
      </dgm:t>
    </dgm:pt>
    <dgm:pt modelId="{09BB9B4A-BEF1-42F5-8D80-AA7F9E95D787}" type="pres">
      <dgm:prSet presAssocID="{D83A8393-02AD-4F2B-9C5E-547ECB735B12}" presName="Name0" presStyleCnt="0">
        <dgm:presLayoutVars>
          <dgm:dir/>
          <dgm:resizeHandles val="exact"/>
        </dgm:presLayoutVars>
      </dgm:prSet>
      <dgm:spPr/>
    </dgm:pt>
    <dgm:pt modelId="{62843667-75A5-4A42-8877-B1CBFCE4874C}" type="pres">
      <dgm:prSet presAssocID="{01CB46ED-D0E8-41E2-AAA0-08FD806BC265}" presName="node" presStyleLbl="node1" presStyleIdx="0" presStyleCnt="4">
        <dgm:presLayoutVars>
          <dgm:bulletEnabled val="1"/>
        </dgm:presLayoutVars>
      </dgm:prSet>
      <dgm:spPr/>
    </dgm:pt>
    <dgm:pt modelId="{19170366-C8B0-4EAB-8415-1C77ECFBC301}" type="pres">
      <dgm:prSet presAssocID="{FBCCB7B9-806F-45A4-AF0F-FDD9756004CA}" presName="sibTrans" presStyleLbl="sibTrans1D1" presStyleIdx="0" presStyleCnt="3"/>
      <dgm:spPr/>
    </dgm:pt>
    <dgm:pt modelId="{E0CDEC25-6B8B-4108-88EE-9A4058533989}" type="pres">
      <dgm:prSet presAssocID="{FBCCB7B9-806F-45A4-AF0F-FDD9756004CA}" presName="connectorText" presStyleLbl="sibTrans1D1" presStyleIdx="0" presStyleCnt="3"/>
      <dgm:spPr/>
    </dgm:pt>
    <dgm:pt modelId="{908A703B-2B49-442D-9EEB-3D8CCF46ABA4}" type="pres">
      <dgm:prSet presAssocID="{BDA0291F-80C7-46A5-8F5C-5343930D1756}" presName="node" presStyleLbl="node1" presStyleIdx="1" presStyleCnt="4">
        <dgm:presLayoutVars>
          <dgm:bulletEnabled val="1"/>
        </dgm:presLayoutVars>
      </dgm:prSet>
      <dgm:spPr/>
    </dgm:pt>
    <dgm:pt modelId="{ED2D7C26-5F87-4D6F-82BE-9E7DC1BF2357}" type="pres">
      <dgm:prSet presAssocID="{418E6691-3817-47EF-B0A8-B62F14BB726A}" presName="sibTrans" presStyleLbl="sibTrans1D1" presStyleIdx="1" presStyleCnt="3"/>
      <dgm:spPr/>
    </dgm:pt>
    <dgm:pt modelId="{468F8120-6084-44DE-8C0B-46B1E83BB2D8}" type="pres">
      <dgm:prSet presAssocID="{418E6691-3817-47EF-B0A8-B62F14BB726A}" presName="connectorText" presStyleLbl="sibTrans1D1" presStyleIdx="1" presStyleCnt="3"/>
      <dgm:spPr/>
    </dgm:pt>
    <dgm:pt modelId="{33076F10-1EAA-4F2D-AA74-7DA38F59385C}" type="pres">
      <dgm:prSet presAssocID="{50C16209-0C62-4483-9B29-6BCE3AB21C36}" presName="node" presStyleLbl="node1" presStyleIdx="2" presStyleCnt="4">
        <dgm:presLayoutVars>
          <dgm:bulletEnabled val="1"/>
        </dgm:presLayoutVars>
      </dgm:prSet>
      <dgm:spPr/>
    </dgm:pt>
    <dgm:pt modelId="{4D8F96E6-3E04-4491-8523-55A1CBBB66B2}" type="pres">
      <dgm:prSet presAssocID="{E6E05508-7D72-4062-8AB4-A73EA12EA610}" presName="sibTrans" presStyleLbl="sibTrans1D1" presStyleIdx="2" presStyleCnt="3"/>
      <dgm:spPr/>
    </dgm:pt>
    <dgm:pt modelId="{E2CE8F81-9AFE-4A34-B034-94D8D18B85CE}" type="pres">
      <dgm:prSet presAssocID="{E6E05508-7D72-4062-8AB4-A73EA12EA610}" presName="connectorText" presStyleLbl="sibTrans1D1" presStyleIdx="2" presStyleCnt="3"/>
      <dgm:spPr/>
    </dgm:pt>
    <dgm:pt modelId="{30E1C495-B987-498E-80A5-D44CC7B14716}" type="pres">
      <dgm:prSet presAssocID="{C2438F76-B29F-4940-98D8-DF8961B2DC68}" presName="node" presStyleLbl="node1" presStyleIdx="3" presStyleCnt="4">
        <dgm:presLayoutVars>
          <dgm:bulletEnabled val="1"/>
        </dgm:presLayoutVars>
      </dgm:prSet>
      <dgm:spPr/>
    </dgm:pt>
  </dgm:ptLst>
  <dgm:cxnLst>
    <dgm:cxn modelId="{AB935202-D19B-4FD5-90AB-AEAF36AB0B1F}" srcId="{D83A8393-02AD-4F2B-9C5E-547ECB735B12}" destId="{C2438F76-B29F-4940-98D8-DF8961B2DC68}" srcOrd="3" destOrd="0" parTransId="{BCA2A85C-87D3-4A6D-97B6-05B4F846FEE2}" sibTransId="{ACBBF8CB-E442-4AEA-BCA5-A13BB4B81127}"/>
    <dgm:cxn modelId="{3CFA9125-8DC0-4B2B-BA27-823175B784B9}" type="presOf" srcId="{E6E05508-7D72-4062-8AB4-A73EA12EA610}" destId="{4D8F96E6-3E04-4491-8523-55A1CBBB66B2}" srcOrd="0" destOrd="0" presId="urn:microsoft.com/office/officeart/2016/7/layout/RepeatingBendingProcessNew"/>
    <dgm:cxn modelId="{927D5B2D-8C38-438A-B645-192247F02291}" type="presOf" srcId="{C2438F76-B29F-4940-98D8-DF8961B2DC68}" destId="{30E1C495-B987-498E-80A5-D44CC7B14716}" srcOrd="0" destOrd="0" presId="urn:microsoft.com/office/officeart/2016/7/layout/RepeatingBendingProcessNew"/>
    <dgm:cxn modelId="{87C49E39-B13E-4C18-B022-58547103B151}" srcId="{D83A8393-02AD-4F2B-9C5E-547ECB735B12}" destId="{01CB46ED-D0E8-41E2-AAA0-08FD806BC265}" srcOrd="0" destOrd="0" parTransId="{13C61A09-FA17-4FFA-8FFE-0AF8CB7D8117}" sibTransId="{FBCCB7B9-806F-45A4-AF0F-FDD9756004CA}"/>
    <dgm:cxn modelId="{238ACF42-5BF3-4A50-A008-699B0398A95D}" type="presOf" srcId="{418E6691-3817-47EF-B0A8-B62F14BB726A}" destId="{ED2D7C26-5F87-4D6F-82BE-9E7DC1BF2357}" srcOrd="0" destOrd="0" presId="urn:microsoft.com/office/officeart/2016/7/layout/RepeatingBendingProcessNew"/>
    <dgm:cxn modelId="{6DD2B06D-586D-44A4-9673-53E835DC4524}" type="presOf" srcId="{FBCCB7B9-806F-45A4-AF0F-FDD9756004CA}" destId="{19170366-C8B0-4EAB-8415-1C77ECFBC301}" srcOrd="0" destOrd="0" presId="urn:microsoft.com/office/officeart/2016/7/layout/RepeatingBendingProcessNew"/>
    <dgm:cxn modelId="{F066147B-99BC-4861-9EFA-82B1235F139D}" type="presOf" srcId="{418E6691-3817-47EF-B0A8-B62F14BB726A}" destId="{468F8120-6084-44DE-8C0B-46B1E83BB2D8}" srcOrd="1" destOrd="0" presId="urn:microsoft.com/office/officeart/2016/7/layout/RepeatingBendingProcessNew"/>
    <dgm:cxn modelId="{99A0E583-F046-4785-99AE-5E794F228C06}" srcId="{D83A8393-02AD-4F2B-9C5E-547ECB735B12}" destId="{50C16209-0C62-4483-9B29-6BCE3AB21C36}" srcOrd="2" destOrd="0" parTransId="{10940CB2-6B7D-44C3-B7AE-69E031317389}" sibTransId="{E6E05508-7D72-4062-8AB4-A73EA12EA610}"/>
    <dgm:cxn modelId="{AA49CA88-B2B9-455E-8644-028A18000C71}" type="presOf" srcId="{D83A8393-02AD-4F2B-9C5E-547ECB735B12}" destId="{09BB9B4A-BEF1-42F5-8D80-AA7F9E95D787}" srcOrd="0" destOrd="0" presId="urn:microsoft.com/office/officeart/2016/7/layout/RepeatingBendingProcessNew"/>
    <dgm:cxn modelId="{D3A8258D-3F7F-4674-909A-9F3F0FAB4FDF}" type="presOf" srcId="{50C16209-0C62-4483-9B29-6BCE3AB21C36}" destId="{33076F10-1EAA-4F2D-AA74-7DA38F59385C}" srcOrd="0" destOrd="0" presId="urn:microsoft.com/office/officeart/2016/7/layout/RepeatingBendingProcessNew"/>
    <dgm:cxn modelId="{9A8AC39E-F3C8-4E0A-A1FE-09AC856347E1}" type="presOf" srcId="{FBCCB7B9-806F-45A4-AF0F-FDD9756004CA}" destId="{E0CDEC25-6B8B-4108-88EE-9A4058533989}" srcOrd="1" destOrd="0" presId="urn:microsoft.com/office/officeart/2016/7/layout/RepeatingBendingProcessNew"/>
    <dgm:cxn modelId="{C6CF55B9-96C6-45D8-B338-F37F4420525A}" srcId="{D83A8393-02AD-4F2B-9C5E-547ECB735B12}" destId="{BDA0291F-80C7-46A5-8F5C-5343930D1756}" srcOrd="1" destOrd="0" parTransId="{2A74B728-82A8-4EA2-83E9-B787DEC3DEEE}" sibTransId="{418E6691-3817-47EF-B0A8-B62F14BB726A}"/>
    <dgm:cxn modelId="{619E04D4-3DF8-4C83-A83F-0BD10F09CBEB}" type="presOf" srcId="{BDA0291F-80C7-46A5-8F5C-5343930D1756}" destId="{908A703B-2B49-442D-9EEB-3D8CCF46ABA4}" srcOrd="0" destOrd="0" presId="urn:microsoft.com/office/officeart/2016/7/layout/RepeatingBendingProcessNew"/>
    <dgm:cxn modelId="{3E6E8DF2-F5C6-435D-8643-03A08DCABEF1}" type="presOf" srcId="{01CB46ED-D0E8-41E2-AAA0-08FD806BC265}" destId="{62843667-75A5-4A42-8877-B1CBFCE4874C}" srcOrd="0" destOrd="0" presId="urn:microsoft.com/office/officeart/2016/7/layout/RepeatingBendingProcessNew"/>
    <dgm:cxn modelId="{BCA375F9-22DC-400F-B093-8F6920201105}" type="presOf" srcId="{E6E05508-7D72-4062-8AB4-A73EA12EA610}" destId="{E2CE8F81-9AFE-4A34-B034-94D8D18B85CE}" srcOrd="1" destOrd="0" presId="urn:microsoft.com/office/officeart/2016/7/layout/RepeatingBendingProcessNew"/>
    <dgm:cxn modelId="{F48C6D27-E5E0-4FB9-B450-E5BC7B5A6EF0}" type="presParOf" srcId="{09BB9B4A-BEF1-42F5-8D80-AA7F9E95D787}" destId="{62843667-75A5-4A42-8877-B1CBFCE4874C}" srcOrd="0" destOrd="0" presId="urn:microsoft.com/office/officeart/2016/7/layout/RepeatingBendingProcessNew"/>
    <dgm:cxn modelId="{A7CD6C63-091E-4C06-809D-C016940ED4DA}" type="presParOf" srcId="{09BB9B4A-BEF1-42F5-8D80-AA7F9E95D787}" destId="{19170366-C8B0-4EAB-8415-1C77ECFBC301}" srcOrd="1" destOrd="0" presId="urn:microsoft.com/office/officeart/2016/7/layout/RepeatingBendingProcessNew"/>
    <dgm:cxn modelId="{4F2CF387-76DD-4139-806F-D94875FC4E69}" type="presParOf" srcId="{19170366-C8B0-4EAB-8415-1C77ECFBC301}" destId="{E0CDEC25-6B8B-4108-88EE-9A4058533989}" srcOrd="0" destOrd="0" presId="urn:microsoft.com/office/officeart/2016/7/layout/RepeatingBendingProcessNew"/>
    <dgm:cxn modelId="{DF910EE8-7499-479A-88F7-879E12101A40}" type="presParOf" srcId="{09BB9B4A-BEF1-42F5-8D80-AA7F9E95D787}" destId="{908A703B-2B49-442D-9EEB-3D8CCF46ABA4}" srcOrd="2" destOrd="0" presId="urn:microsoft.com/office/officeart/2016/7/layout/RepeatingBendingProcessNew"/>
    <dgm:cxn modelId="{C71E0F7D-E528-4AB1-89F3-0612B9A11EED}" type="presParOf" srcId="{09BB9B4A-BEF1-42F5-8D80-AA7F9E95D787}" destId="{ED2D7C26-5F87-4D6F-82BE-9E7DC1BF2357}" srcOrd="3" destOrd="0" presId="urn:microsoft.com/office/officeart/2016/7/layout/RepeatingBendingProcessNew"/>
    <dgm:cxn modelId="{C9E17B1B-9B71-4778-BD5E-574C3E0D25AA}" type="presParOf" srcId="{ED2D7C26-5F87-4D6F-82BE-9E7DC1BF2357}" destId="{468F8120-6084-44DE-8C0B-46B1E83BB2D8}" srcOrd="0" destOrd="0" presId="urn:microsoft.com/office/officeart/2016/7/layout/RepeatingBendingProcessNew"/>
    <dgm:cxn modelId="{8ECC7030-9ACB-4584-BF50-E20E257762F1}" type="presParOf" srcId="{09BB9B4A-BEF1-42F5-8D80-AA7F9E95D787}" destId="{33076F10-1EAA-4F2D-AA74-7DA38F59385C}" srcOrd="4" destOrd="0" presId="urn:microsoft.com/office/officeart/2016/7/layout/RepeatingBendingProcessNew"/>
    <dgm:cxn modelId="{CD3480E1-E254-4413-8E2C-2263912C7A27}" type="presParOf" srcId="{09BB9B4A-BEF1-42F5-8D80-AA7F9E95D787}" destId="{4D8F96E6-3E04-4491-8523-55A1CBBB66B2}" srcOrd="5" destOrd="0" presId="urn:microsoft.com/office/officeart/2016/7/layout/RepeatingBendingProcessNew"/>
    <dgm:cxn modelId="{4999209D-8E84-4388-8419-2F9D92B178E6}" type="presParOf" srcId="{4D8F96E6-3E04-4491-8523-55A1CBBB66B2}" destId="{E2CE8F81-9AFE-4A34-B034-94D8D18B85CE}" srcOrd="0" destOrd="0" presId="urn:microsoft.com/office/officeart/2016/7/layout/RepeatingBendingProcessNew"/>
    <dgm:cxn modelId="{AAA0C4F2-94CF-4704-92E4-10AE92CFF8D2}" type="presParOf" srcId="{09BB9B4A-BEF1-42F5-8D80-AA7F9E95D787}" destId="{30E1C495-B987-498E-80A5-D44CC7B14716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B9592-11AE-44C0-B7A4-C6D3A5D7CA84}">
      <dsp:nvSpPr>
        <dsp:cNvPr id="0" name=""/>
        <dsp:cNvSpPr/>
      </dsp:nvSpPr>
      <dsp:spPr>
        <a:xfrm>
          <a:off x="0" y="117645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Introduction and Motivation </a:t>
          </a:r>
          <a:endParaRPr lang="en-US" sz="1100" b="1" kern="1200" dirty="0"/>
        </a:p>
      </dsp:txBody>
      <dsp:txXfrm>
        <a:off x="24551" y="142196"/>
        <a:ext cx="4903897" cy="453833"/>
      </dsp:txXfrm>
    </dsp:sp>
    <dsp:sp modelId="{B1D11219-D0A3-4085-80DC-45D1CFEA6546}">
      <dsp:nvSpPr>
        <dsp:cNvPr id="0" name=""/>
        <dsp:cNvSpPr/>
      </dsp:nvSpPr>
      <dsp:spPr>
        <a:xfrm>
          <a:off x="0" y="659285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5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5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5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Theoratical Background </a:t>
          </a:r>
          <a:endParaRPr lang="en-US" sz="1100" b="1" kern="1200" dirty="0"/>
        </a:p>
      </dsp:txBody>
      <dsp:txXfrm>
        <a:off x="24551" y="683836"/>
        <a:ext cx="4903897" cy="453833"/>
      </dsp:txXfrm>
    </dsp:sp>
    <dsp:sp modelId="{775F6BA9-6173-4487-ADF5-47C445AE72BF}">
      <dsp:nvSpPr>
        <dsp:cNvPr id="0" name=""/>
        <dsp:cNvSpPr/>
      </dsp:nvSpPr>
      <dsp:spPr>
        <a:xfrm>
          <a:off x="0" y="1193901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10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Mechanical Subsystem </a:t>
          </a:r>
          <a:endParaRPr lang="en-US" sz="1100" b="1" kern="1200" dirty="0"/>
        </a:p>
      </dsp:txBody>
      <dsp:txXfrm>
        <a:off x="24551" y="1218452"/>
        <a:ext cx="4903897" cy="453833"/>
      </dsp:txXfrm>
    </dsp:sp>
    <dsp:sp modelId="{F9F3C62E-2142-416E-B6DF-58EE556469F1}">
      <dsp:nvSpPr>
        <dsp:cNvPr id="0" name=""/>
        <dsp:cNvSpPr/>
      </dsp:nvSpPr>
      <dsp:spPr>
        <a:xfrm>
          <a:off x="0" y="1728516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5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15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5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Hydraulic Subsystem  </a:t>
          </a:r>
          <a:endParaRPr lang="en-US" sz="1100" b="1" kern="1200" dirty="0"/>
        </a:p>
      </dsp:txBody>
      <dsp:txXfrm>
        <a:off x="24551" y="1753067"/>
        <a:ext cx="4903897" cy="453833"/>
      </dsp:txXfrm>
    </dsp:sp>
    <dsp:sp modelId="{CCC648E7-81FE-4F21-BDCC-E37B2F437861}">
      <dsp:nvSpPr>
        <dsp:cNvPr id="0" name=""/>
        <dsp:cNvSpPr/>
      </dsp:nvSpPr>
      <dsp:spPr>
        <a:xfrm>
          <a:off x="0" y="2263132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Intergrated System </a:t>
          </a:r>
          <a:endParaRPr lang="en-US" sz="1100" b="1" kern="1200" dirty="0"/>
        </a:p>
      </dsp:txBody>
      <dsp:txXfrm>
        <a:off x="24551" y="2287683"/>
        <a:ext cx="4903897" cy="453833"/>
      </dsp:txXfrm>
    </dsp:sp>
    <dsp:sp modelId="{78F3FEF5-F17F-405E-8933-444F3BEF2625}">
      <dsp:nvSpPr>
        <dsp:cNvPr id="0" name=""/>
        <dsp:cNvSpPr/>
      </dsp:nvSpPr>
      <dsp:spPr>
        <a:xfrm>
          <a:off x="0" y="2797747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5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25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5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Control Design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24551" y="2822298"/>
        <a:ext cx="4903897" cy="453833"/>
      </dsp:txXfrm>
    </dsp:sp>
    <dsp:sp modelId="{22B06903-A9D3-43B7-869D-9D6186DD45A9}">
      <dsp:nvSpPr>
        <dsp:cNvPr id="0" name=""/>
        <dsp:cNvSpPr/>
      </dsp:nvSpPr>
      <dsp:spPr>
        <a:xfrm>
          <a:off x="0" y="3332363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0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Validation Strategy </a:t>
          </a:r>
          <a:endParaRPr lang="en-US" sz="1100" b="1" kern="1200" dirty="0"/>
        </a:p>
      </dsp:txBody>
      <dsp:txXfrm>
        <a:off x="24551" y="3356914"/>
        <a:ext cx="4903897" cy="453833"/>
      </dsp:txXfrm>
    </dsp:sp>
    <dsp:sp modelId="{FF6A2673-CFA8-49B9-8CEC-FAE3CD5F87A8}">
      <dsp:nvSpPr>
        <dsp:cNvPr id="0" name=""/>
        <dsp:cNvSpPr/>
      </dsp:nvSpPr>
      <dsp:spPr>
        <a:xfrm>
          <a:off x="0" y="3866978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5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35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5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Simulation and Results Analysis </a:t>
          </a:r>
          <a:endParaRPr lang="en-US" sz="1100" b="1" kern="1200" dirty="0"/>
        </a:p>
      </dsp:txBody>
      <dsp:txXfrm>
        <a:off x="24551" y="3891529"/>
        <a:ext cx="4903897" cy="453833"/>
      </dsp:txXfrm>
    </dsp:sp>
    <dsp:sp modelId="{BF71613A-8296-4823-B6E4-6404E848E157}">
      <dsp:nvSpPr>
        <dsp:cNvPr id="0" name=""/>
        <dsp:cNvSpPr/>
      </dsp:nvSpPr>
      <dsp:spPr>
        <a:xfrm>
          <a:off x="0" y="4401594"/>
          <a:ext cx="4952999" cy="50293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1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Conclusion and Future Work </a:t>
          </a:r>
          <a:endParaRPr lang="en-US" sz="1100" b="1" kern="1200" dirty="0"/>
        </a:p>
      </dsp:txBody>
      <dsp:txXfrm>
        <a:off x="24551" y="4426145"/>
        <a:ext cx="4903897" cy="4538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70366-C8B0-4EAB-8415-1C77ECFBC301}">
      <dsp:nvSpPr>
        <dsp:cNvPr id="0" name=""/>
        <dsp:cNvSpPr/>
      </dsp:nvSpPr>
      <dsp:spPr>
        <a:xfrm>
          <a:off x="3890694" y="978065"/>
          <a:ext cx="753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53735" y="45720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47954" y="1019863"/>
        <a:ext cx="39216" cy="7843"/>
      </dsp:txXfrm>
    </dsp:sp>
    <dsp:sp modelId="{62843667-75A5-4A42-8877-B1CBFCE4874C}">
      <dsp:nvSpPr>
        <dsp:cNvPr id="0" name=""/>
        <dsp:cNvSpPr/>
      </dsp:nvSpPr>
      <dsp:spPr>
        <a:xfrm>
          <a:off x="482338" y="738"/>
          <a:ext cx="3410156" cy="2046093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00" tIns="175401" rIns="167100" bIns="17540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u="sng" kern="1200" dirty="0">
              <a:latin typeface="Arial" panose="020B0604020202020204" pitchFamily="34" charset="0"/>
              <a:cs typeface="Arial" panose="020B0604020202020204" pitchFamily="34" charset="0"/>
            </a:rPr>
            <a:t>Hydraulic Nonlinearities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2338" y="738"/>
        <a:ext cx="3410156" cy="2046093"/>
      </dsp:txXfrm>
    </dsp:sp>
    <dsp:sp modelId="{ED2D7C26-5F87-4D6F-82BE-9E7DC1BF2357}">
      <dsp:nvSpPr>
        <dsp:cNvPr id="0" name=""/>
        <dsp:cNvSpPr/>
      </dsp:nvSpPr>
      <dsp:spPr>
        <a:xfrm>
          <a:off x="2187416" y="2045032"/>
          <a:ext cx="4194492" cy="753735"/>
        </a:xfrm>
        <a:custGeom>
          <a:avLst/>
          <a:gdLst/>
          <a:ahLst/>
          <a:cxnLst/>
          <a:rect l="0" t="0" r="0" b="0"/>
          <a:pathLst>
            <a:path>
              <a:moveTo>
                <a:pt x="4194492" y="0"/>
              </a:moveTo>
              <a:lnTo>
                <a:pt x="4194492" y="393967"/>
              </a:lnTo>
              <a:lnTo>
                <a:pt x="0" y="393967"/>
              </a:lnTo>
              <a:lnTo>
                <a:pt x="0" y="753735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298470"/>
              <a:satOff val="-31777"/>
              <a:lumOff val="2410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77982" y="2417978"/>
        <a:ext cx="213359" cy="7843"/>
      </dsp:txXfrm>
    </dsp:sp>
    <dsp:sp modelId="{908A703B-2B49-442D-9EEB-3D8CCF46ABA4}">
      <dsp:nvSpPr>
        <dsp:cNvPr id="0" name=""/>
        <dsp:cNvSpPr/>
      </dsp:nvSpPr>
      <dsp:spPr>
        <a:xfrm>
          <a:off x="4676830" y="738"/>
          <a:ext cx="3410156" cy="2046093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00" tIns="175401" rIns="167100" bIns="17540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system is governed by nonlinearities such as </a:t>
          </a:r>
          <a:r>
            <a:rPr lang="en-US" sz="1600" b="1" i="1" kern="1200" dirty="0"/>
            <a:t>bulk modulus </a:t>
          </a:r>
          <a:r>
            <a:rPr lang="en-US" sz="1600" kern="1200" dirty="0"/>
            <a:t>and </a:t>
          </a:r>
          <a:r>
            <a:rPr lang="en-US" sz="1600" kern="1200" dirty="0" err="1"/>
            <a:t>stribeck</a:t>
          </a:r>
          <a:r>
            <a:rPr lang="en-US" sz="1600" kern="1200" dirty="0"/>
            <a:t> friction.</a:t>
          </a:r>
        </a:p>
      </dsp:txBody>
      <dsp:txXfrm>
        <a:off x="4676830" y="738"/>
        <a:ext cx="3410156" cy="2046093"/>
      </dsp:txXfrm>
    </dsp:sp>
    <dsp:sp modelId="{4D8F96E6-3E04-4491-8523-55A1CBBB66B2}">
      <dsp:nvSpPr>
        <dsp:cNvPr id="0" name=""/>
        <dsp:cNvSpPr/>
      </dsp:nvSpPr>
      <dsp:spPr>
        <a:xfrm>
          <a:off x="3890694" y="3808494"/>
          <a:ext cx="753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53735" y="45720"/>
              </a:lnTo>
            </a:path>
          </a:pathLst>
        </a:custGeom>
        <a:noFill/>
        <a:ln w="9525" cap="flat" cmpd="sng" algn="ctr">
          <a:solidFill>
            <a:schemeClr val="accent1">
              <a:shade val="90000"/>
              <a:hueOff val="596940"/>
              <a:satOff val="-63554"/>
              <a:lumOff val="4820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47954" y="3850293"/>
        <a:ext cx="39216" cy="7843"/>
      </dsp:txXfrm>
    </dsp:sp>
    <dsp:sp modelId="{33076F10-1EAA-4F2D-AA74-7DA38F59385C}">
      <dsp:nvSpPr>
        <dsp:cNvPr id="0" name=""/>
        <dsp:cNvSpPr/>
      </dsp:nvSpPr>
      <dsp:spPr>
        <a:xfrm>
          <a:off x="482338" y="2831167"/>
          <a:ext cx="3410156" cy="2046093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00" tIns="175401" rIns="167100" bIns="17540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/>
            <a:t>Modeling Philosophy</a:t>
          </a:r>
          <a:endParaRPr lang="en-US" sz="1600" kern="1200"/>
        </a:p>
      </dsp:txBody>
      <dsp:txXfrm>
        <a:off x="482338" y="2831167"/>
        <a:ext cx="3410156" cy="2046093"/>
      </dsp:txXfrm>
    </dsp:sp>
    <dsp:sp modelId="{30E1C495-B987-498E-80A5-D44CC7B14716}">
      <dsp:nvSpPr>
        <dsp:cNvPr id="0" name=""/>
        <dsp:cNvSpPr/>
      </dsp:nvSpPr>
      <dsp:spPr>
        <a:xfrm>
          <a:off x="4676830" y="2831167"/>
          <a:ext cx="3410156" cy="2046093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00" tIns="175401" rIns="167100" bIns="17540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The approach is physical modeling. Simscape is used to solve the rigid multibody mechanics and hydraulic networks simultaneously ensuring energy conservation across dormains. </a:t>
          </a:r>
          <a:endParaRPr lang="en-US" sz="1600" kern="1200" dirty="0"/>
        </a:p>
      </dsp:txBody>
      <dsp:txXfrm>
        <a:off x="4676830" y="2831167"/>
        <a:ext cx="3410156" cy="2046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BC7DA-B254-44D0-BAF9-4B270BE92C2B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B85D5-BE64-4ECA-9F9A-84A8A2D70A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287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446B6-2515-4800-AAF0-664C4F0DCFFF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715AE-0BB9-4882-9A14-478DF3E1C0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987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412000" y="4759200"/>
            <a:ext cx="6444000" cy="1800000"/>
          </a:xfr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eaLnBrk="1" hangingPunct="1"/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788EB-7664-43D6-9F91-59A9B7B1C081}" type="datetime1">
              <a:rPr lang="de-DE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ctrTitle"/>
          </p:nvPr>
        </p:nvSpPr>
        <p:spPr>
          <a:xfrm>
            <a:off x="288000" y="763200"/>
            <a:ext cx="8568000" cy="1548000"/>
          </a:xfrm>
        </p:spPr>
        <p:txBody>
          <a:bodyPr/>
          <a:lstStyle>
            <a:lvl1pPr>
              <a:defRPr sz="2600">
                <a:solidFill>
                  <a:srgbClr val="5072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229200"/>
            <a:ext cx="2176552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5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84F1A43-A947-42C5-8F7E-6119F6D8EA32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7D6B361-7266-41AF-9EA7-D0F5242D63C1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2" name="Titelplatzhalter 1"/>
          <p:cNvSpPr>
            <a:spLocks noGrp="1"/>
          </p:cNvSpPr>
          <p:nvPr>
            <p:ph type="title"/>
          </p:nvPr>
        </p:nvSpPr>
        <p:spPr bwMode="auto">
          <a:xfrm>
            <a:off x="288000" y="936000"/>
            <a:ext cx="8568000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5072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5" name="Inhaltsplatzhalter 14"/>
          <p:cNvSpPr>
            <a:spLocks noGrp="1"/>
          </p:cNvSpPr>
          <p:nvPr>
            <p:ph sz="quarter" idx="13"/>
          </p:nvPr>
        </p:nvSpPr>
        <p:spPr>
          <a:xfrm>
            <a:off x="287338" y="1584000"/>
            <a:ext cx="8569325" cy="487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871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, 3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569075"/>
            <a:ext cx="802432" cy="152400"/>
          </a:xfrm>
        </p:spPr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259632" y="6569075"/>
            <a:ext cx="5760640" cy="152400"/>
          </a:xfrm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20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7020272" y="6569075"/>
            <a:ext cx="625128" cy="152400"/>
          </a:xfrm>
        </p:spPr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287337" y="1584000"/>
            <a:ext cx="6444000" cy="480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quarter" idx="18"/>
          </p:nvPr>
        </p:nvSpPr>
        <p:spPr>
          <a:xfrm>
            <a:off x="7020000" y="1584000"/>
            <a:ext cx="2124000" cy="16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7016532" y="3186000"/>
            <a:ext cx="2124000" cy="16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2"/>
          <p:cNvSpPr>
            <a:spLocks noGrp="1"/>
          </p:cNvSpPr>
          <p:nvPr>
            <p:ph sz="quarter" idx="20"/>
          </p:nvPr>
        </p:nvSpPr>
        <p:spPr>
          <a:xfrm>
            <a:off x="7020272" y="4788000"/>
            <a:ext cx="2124000" cy="16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172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, 4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288000" y="936000"/>
            <a:ext cx="6443337" cy="468000"/>
          </a:xfrm>
        </p:spPr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569075"/>
            <a:ext cx="802432" cy="152400"/>
          </a:xfrm>
        </p:spPr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19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259632" y="6569075"/>
            <a:ext cx="5760640" cy="152400"/>
          </a:xfrm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20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7020272" y="6569075"/>
            <a:ext cx="625128" cy="152400"/>
          </a:xfrm>
        </p:spPr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287337" y="1584000"/>
            <a:ext cx="6444000" cy="480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quarter" idx="19"/>
          </p:nvPr>
        </p:nvSpPr>
        <p:spPr>
          <a:xfrm>
            <a:off x="7019925" y="770408"/>
            <a:ext cx="2124075" cy="145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4" name="Inhaltsplatzhalter 2"/>
          <p:cNvSpPr>
            <a:spLocks noGrp="1"/>
          </p:cNvSpPr>
          <p:nvPr>
            <p:ph sz="quarter" idx="20"/>
          </p:nvPr>
        </p:nvSpPr>
        <p:spPr>
          <a:xfrm>
            <a:off x="7020272" y="2219697"/>
            <a:ext cx="2124075" cy="145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2"/>
          <p:cNvSpPr>
            <a:spLocks noGrp="1"/>
          </p:cNvSpPr>
          <p:nvPr>
            <p:ph sz="quarter" idx="21"/>
          </p:nvPr>
        </p:nvSpPr>
        <p:spPr>
          <a:xfrm>
            <a:off x="7019925" y="3668986"/>
            <a:ext cx="2124075" cy="145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6" name="Inhaltsplatzhalter 2"/>
          <p:cNvSpPr>
            <a:spLocks noGrp="1"/>
          </p:cNvSpPr>
          <p:nvPr>
            <p:ph sz="quarter" idx="22"/>
          </p:nvPr>
        </p:nvSpPr>
        <p:spPr>
          <a:xfrm>
            <a:off x="7019925" y="5118275"/>
            <a:ext cx="2124075" cy="145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0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4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288000" y="1584000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2"/>
          <p:cNvSpPr>
            <a:spLocks noGrp="1"/>
          </p:cNvSpPr>
          <p:nvPr>
            <p:ph sz="quarter" idx="14"/>
          </p:nvPr>
        </p:nvSpPr>
        <p:spPr>
          <a:xfrm>
            <a:off x="4662000" y="1584000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2"/>
          <p:cNvSpPr>
            <a:spLocks noGrp="1"/>
          </p:cNvSpPr>
          <p:nvPr>
            <p:ph sz="quarter" idx="15"/>
          </p:nvPr>
        </p:nvSpPr>
        <p:spPr>
          <a:xfrm>
            <a:off x="288000" y="4077072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9" name="Inhaltsplatzhalter 12"/>
          <p:cNvSpPr>
            <a:spLocks noGrp="1"/>
          </p:cNvSpPr>
          <p:nvPr>
            <p:ph sz="quarter" idx="16"/>
          </p:nvPr>
        </p:nvSpPr>
        <p:spPr>
          <a:xfrm>
            <a:off x="4662000" y="4078800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960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2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288000" y="1584000"/>
            <a:ext cx="4194000" cy="480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2"/>
          <p:cNvSpPr>
            <a:spLocks noGrp="1"/>
          </p:cNvSpPr>
          <p:nvPr>
            <p:ph sz="quarter" idx="14"/>
          </p:nvPr>
        </p:nvSpPr>
        <p:spPr>
          <a:xfrm>
            <a:off x="4662000" y="1584000"/>
            <a:ext cx="4194000" cy="480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476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3 Med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288000" y="1584000"/>
            <a:ext cx="8568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2"/>
          <p:cNvSpPr>
            <a:spLocks noGrp="1"/>
          </p:cNvSpPr>
          <p:nvPr>
            <p:ph sz="quarter" idx="15"/>
          </p:nvPr>
        </p:nvSpPr>
        <p:spPr>
          <a:xfrm>
            <a:off x="288000" y="4077072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9" name="Inhaltsplatzhalter 12"/>
          <p:cNvSpPr>
            <a:spLocks noGrp="1"/>
          </p:cNvSpPr>
          <p:nvPr>
            <p:ph sz="quarter" idx="16"/>
          </p:nvPr>
        </p:nvSpPr>
        <p:spPr>
          <a:xfrm>
            <a:off x="4662000" y="4078800"/>
            <a:ext cx="4194000" cy="23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05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07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734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79512" y="6569075"/>
            <a:ext cx="8839200" cy="152400"/>
            <a:chOff x="1386" y="0"/>
            <a:chExt cx="4854" cy="611"/>
          </a:xfrm>
          <a:solidFill>
            <a:srgbClr val="B92819"/>
          </a:solidFill>
        </p:grpSpPr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813" y="0"/>
              <a:ext cx="4427" cy="611"/>
            </a:xfrm>
            <a:prstGeom prst="rect">
              <a:avLst/>
            </a:prstGeom>
            <a:grp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AutoShape 34"/>
            <p:cNvSpPr>
              <a:spLocks noChangeArrowheads="1"/>
            </p:cNvSpPr>
            <p:nvPr/>
          </p:nvSpPr>
          <p:spPr bwMode="auto">
            <a:xfrm>
              <a:off x="1386" y="0"/>
              <a:ext cx="2789" cy="611"/>
            </a:xfrm>
            <a:prstGeom prst="parallelogram">
              <a:avLst>
                <a:gd name="adj" fmla="val 3060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997624" y="6569075"/>
            <a:ext cx="8154000" cy="152400"/>
          </a:xfrm>
          <a:prstGeom prst="rect">
            <a:avLst/>
          </a:prstGeom>
          <a:solidFill>
            <a:srgbClr val="507289"/>
          </a:solidFill>
          <a:ln w="31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AutoShape 34"/>
          <p:cNvSpPr>
            <a:spLocks noChangeArrowheads="1"/>
          </p:cNvSpPr>
          <p:nvPr/>
        </p:nvSpPr>
        <p:spPr bwMode="auto">
          <a:xfrm>
            <a:off x="223962" y="6569075"/>
            <a:ext cx="5053267" cy="152400"/>
          </a:xfrm>
          <a:prstGeom prst="parallelogram">
            <a:avLst>
              <a:gd name="adj" fmla="val 30600"/>
            </a:avLst>
          </a:prstGeom>
          <a:solidFill>
            <a:srgbClr val="50728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828800" y="204789"/>
            <a:ext cx="4247758" cy="323169"/>
            <a:chOff x="1386" y="0"/>
            <a:chExt cx="4854" cy="611"/>
          </a:xfrm>
          <a:solidFill>
            <a:srgbClr val="B92819"/>
          </a:solidFill>
        </p:grpSpPr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1813" y="0"/>
              <a:ext cx="4427" cy="611"/>
            </a:xfrm>
            <a:prstGeom prst="rect">
              <a:avLst/>
            </a:prstGeom>
            <a:grp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AutoShape 34"/>
            <p:cNvSpPr>
              <a:spLocks noChangeArrowheads="1"/>
            </p:cNvSpPr>
            <p:nvPr/>
          </p:nvSpPr>
          <p:spPr bwMode="auto">
            <a:xfrm>
              <a:off x="1386" y="0"/>
              <a:ext cx="2789" cy="611"/>
            </a:xfrm>
            <a:prstGeom prst="parallelogram">
              <a:avLst>
                <a:gd name="adj" fmla="val 3060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1828800" y="204789"/>
            <a:ext cx="7315200" cy="565912"/>
            <a:chOff x="1386" y="0"/>
            <a:chExt cx="4854" cy="611"/>
          </a:xfrm>
          <a:solidFill>
            <a:srgbClr val="507289"/>
          </a:solidFill>
        </p:grpSpPr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813" y="0"/>
              <a:ext cx="4427" cy="611"/>
            </a:xfrm>
            <a:prstGeom prst="rect">
              <a:avLst/>
            </a:prstGeom>
            <a:grpFill/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AutoShape 34"/>
            <p:cNvSpPr>
              <a:spLocks noChangeArrowheads="1"/>
            </p:cNvSpPr>
            <p:nvPr/>
          </p:nvSpPr>
          <p:spPr bwMode="auto">
            <a:xfrm>
              <a:off x="1386" y="0"/>
              <a:ext cx="2789" cy="611"/>
            </a:xfrm>
            <a:prstGeom prst="parallelogram">
              <a:avLst>
                <a:gd name="adj" fmla="val 3060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30" name="Titelplatzhalter 1"/>
          <p:cNvSpPr>
            <a:spLocks noGrp="1"/>
          </p:cNvSpPr>
          <p:nvPr>
            <p:ph type="title"/>
          </p:nvPr>
        </p:nvSpPr>
        <p:spPr bwMode="auto">
          <a:xfrm>
            <a:off x="288000" y="936000"/>
            <a:ext cx="8568000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3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288000" y="1584000"/>
            <a:ext cx="8568000" cy="4804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19212" y="6569075"/>
            <a:ext cx="802432" cy="1524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4010324-F72C-4852-B41D-6BDFC9E42424}" type="datetime1">
              <a:rPr lang="de-DE" smtClean="0"/>
              <a:pPr>
                <a:defRPr/>
              </a:pPr>
              <a:t>10.12.2025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882284" y="6569075"/>
            <a:ext cx="625128" cy="1524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062393E-7D83-491B-8DF5-03E3771C541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7836316" y="6535738"/>
            <a:ext cx="110723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de-DE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rrlab.cs.uni-kl.de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8496"/>
            <a:ext cx="1656183" cy="566001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0" y="6561466"/>
            <a:ext cx="9151624" cy="14524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7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2" r:id="rId5"/>
    <p:sldLayoutId id="2147483656" r:id="rId6"/>
    <p:sldLayoutId id="2147483655" r:id="rId7"/>
    <p:sldLayoutId id="2147483654" r:id="rId8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507289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  <a:cs typeface="Verdana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  <a:cs typeface="Verdana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  <a:cs typeface="Verdana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  <a:cs typeface="Verdana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254F9E"/>
          </a:solidFill>
          <a:latin typeface="Verdana" charset="0"/>
          <a:ea typeface="ＭＳ Ｐゴシック" charset="-128"/>
        </a:defRPr>
      </a:lvl9pPr>
    </p:titleStyle>
    <p:bodyStyle>
      <a:lvl1pPr marL="360363" indent="-360363" algn="l" defTabSz="457200" rtl="0" eaLnBrk="1" fontAlgn="base" hangingPunct="1">
        <a:spcBef>
          <a:spcPct val="20000"/>
        </a:spcBef>
        <a:spcAft>
          <a:spcPct val="0"/>
        </a:spcAft>
        <a:buClr>
          <a:srgbClr val="B92819"/>
        </a:buClr>
        <a:buFont typeface="Wingdings" pitchFamily="2" charset="2"/>
        <a:buChar char="§"/>
        <a:defRPr sz="2000" b="0" kern="1200">
          <a:solidFill>
            <a:srgbClr val="507289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77B6BA"/>
        </a:buClr>
        <a:buFont typeface="Wingdings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77B6BA"/>
        </a:buClr>
        <a:buFont typeface="Wingdings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77B6BA"/>
        </a:buClr>
        <a:buFont typeface="Wingdings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77B6BA"/>
        </a:buClr>
        <a:buFont typeface="Wingdings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1187624" y="4759200"/>
            <a:ext cx="7668376" cy="1800000"/>
          </a:xfrm>
        </p:spPr>
        <p:txBody>
          <a:bodyPr/>
          <a:lstStyle/>
          <a:p>
            <a:r>
              <a:rPr lang="en-US" b="1" dirty="0">
                <a:solidFill>
                  <a:srgbClr val="828C96"/>
                </a:solidFill>
              </a:rPr>
              <a:t>Kevin Kudakwashe </a:t>
            </a:r>
            <a:r>
              <a:rPr lang="en-US" b="1" dirty="0" err="1">
                <a:solidFill>
                  <a:srgbClr val="828C96"/>
                </a:solidFill>
              </a:rPr>
              <a:t>Murera</a:t>
            </a:r>
            <a:endParaRPr lang="en-US" b="1" dirty="0">
              <a:solidFill>
                <a:srgbClr val="828C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828C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Research Lab</a:t>
            </a:r>
          </a:p>
          <a:p>
            <a:r>
              <a:rPr lang="en-US" dirty="0">
                <a:solidFill>
                  <a:srgbClr val="828C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r>
              <a:rPr lang="en-US" dirty="0">
                <a:solidFill>
                  <a:srgbClr val="828C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Kaiserslautern-Landau, Germany</a:t>
            </a:r>
          </a:p>
          <a:p>
            <a:endParaRPr lang="de-DE" dirty="0">
              <a:solidFill>
                <a:srgbClr val="828C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</a:t>
            </a:r>
            <a:r>
              <a:rPr lang="en-US" dirty="0" err="1"/>
              <a:t>echanical</a:t>
            </a:r>
            <a:r>
              <a:rPr lang="en-US" dirty="0"/>
              <a:t>-Hydraulic Modeling of an Embankment Mower in </a:t>
            </a:r>
            <a:r>
              <a:rPr lang="en-US" dirty="0" err="1"/>
              <a:t>Simscape</a:t>
            </a:r>
            <a:r>
              <a:rPr lang="en-US" dirty="0"/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2CEED-9D93-CB33-3A53-527362541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107192"/>
            <a:ext cx="4885037" cy="2446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7192"/>
            <a:ext cx="6028037" cy="244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2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A11D-CE7E-C61B-9D93-3CD4B7E1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Outline </a:t>
            </a:r>
            <a:endParaRPr lang="en-US" dirty="0"/>
          </a:p>
        </p:txBody>
      </p:sp>
      <p:pic>
        <p:nvPicPr>
          <p:cNvPr id="8" name="Content Placeholder 7" descr="A large orange machine with a long arm&#10;&#10;AI-generated content may be incorrect.">
            <a:extLst>
              <a:ext uri="{FF2B5EF4-FFF2-40B4-BE49-F238E27FC236}">
                <a16:creationId xmlns:a16="http://schemas.microsoft.com/office/drawing/2014/main" id="{A90CF183-BC92-7C3E-8EFA-76F761A54CF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477000" y="4419600"/>
            <a:ext cx="2531400" cy="1942262"/>
          </a:xfr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9BAAA5F-3759-58B3-E84A-9BCEC4AABC3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79788720"/>
              </p:ext>
            </p:extLst>
          </p:nvPr>
        </p:nvGraphicFramePr>
        <p:xfrm>
          <a:off x="457200" y="1404000"/>
          <a:ext cx="4952999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342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4EDE-1C3D-03DE-CEBD-24EA5CBF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936000"/>
            <a:ext cx="8568663" cy="64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Introduction and Motivation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E1D71-47C0-BBCF-E55F-6BE7A7BB42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7338" y="1584000"/>
            <a:ext cx="8569325" cy="4878000"/>
          </a:xfrm>
        </p:spPr>
        <p:txBody>
          <a:bodyPr wrap="square" anchor="t">
            <a:normAutofit/>
          </a:bodyPr>
          <a:lstStyle/>
          <a:p>
            <a:r>
              <a:rPr lang="de-DE" dirty="0"/>
              <a:t>The Mulag FME 500 is a heavy hydraulic manipulator that works in </a:t>
            </a:r>
          </a:p>
          <a:p>
            <a:pPr marL="0" indent="0">
              <a:buNone/>
            </a:pPr>
            <a:r>
              <a:rPr lang="de-DE" dirty="0"/>
              <a:t>stochastic environments.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u="sng" dirty="0"/>
              <a:t>The Problem</a:t>
            </a:r>
          </a:p>
          <a:p>
            <a:r>
              <a:rPr lang="de-DE" dirty="0"/>
              <a:t>Accurate simulation  is difficult because of bidirectional coupling between the domains e.g. hydraulic forces drive the mechanics and mechanical loads alter fluid properties.</a:t>
            </a:r>
          </a:p>
          <a:p>
            <a:r>
              <a:rPr lang="de-DE" dirty="0"/>
              <a:t>Standard kinematics fail to capture „stiff“ oscillatory behaviors. </a:t>
            </a:r>
          </a:p>
          <a:p>
            <a:endParaRPr lang="de-DE" dirty="0"/>
          </a:p>
          <a:p>
            <a:pPr marL="0" indent="0">
              <a:buNone/>
            </a:pPr>
            <a:r>
              <a:rPr lang="en-US" b="1" u="sng" dirty="0"/>
              <a:t>The Goal</a:t>
            </a:r>
          </a:p>
          <a:p>
            <a:r>
              <a:rPr lang="en-US" dirty="0"/>
              <a:t>Develop a high fidelity physically consistent Digital Twin in </a:t>
            </a:r>
            <a:r>
              <a:rPr lang="en-US" dirty="0" err="1"/>
              <a:t>Simscape</a:t>
            </a:r>
            <a:r>
              <a:rPr lang="en-US" dirty="0"/>
              <a:t> that captures these nonlinearities to support future safety verification and control development.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563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9D94-BD5E-60DD-83CF-63157FCD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Theoratical Background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E6B841-2FCB-FB18-25F7-ADB755DCAEB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83164981"/>
              </p:ext>
            </p:extLst>
          </p:nvPr>
        </p:nvGraphicFramePr>
        <p:xfrm>
          <a:off x="287338" y="1584000"/>
          <a:ext cx="8569325" cy="48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339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F366-6E76-A9D8-E3B3-82B465D5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Simscape versus Robot Engines 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CAC1BA-5DAD-7AD9-C5F5-12E3C1797FC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88714802"/>
              </p:ext>
            </p:extLst>
          </p:nvPr>
        </p:nvGraphicFramePr>
        <p:xfrm>
          <a:off x="288000" y="1600200"/>
          <a:ext cx="8703600" cy="4505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200">
                  <a:extLst>
                    <a:ext uri="{9D8B030D-6E8A-4147-A177-3AD203B41FA5}">
                      <a16:colId xmlns:a16="http://schemas.microsoft.com/office/drawing/2014/main" val="2434015604"/>
                    </a:ext>
                  </a:extLst>
                </a:gridCol>
                <a:gridCol w="2901200">
                  <a:extLst>
                    <a:ext uri="{9D8B030D-6E8A-4147-A177-3AD203B41FA5}">
                      <a16:colId xmlns:a16="http://schemas.microsoft.com/office/drawing/2014/main" val="1736711594"/>
                    </a:ext>
                  </a:extLst>
                </a:gridCol>
                <a:gridCol w="2901200">
                  <a:extLst>
                    <a:ext uri="{9D8B030D-6E8A-4147-A177-3AD203B41FA5}">
                      <a16:colId xmlns:a16="http://schemas.microsoft.com/office/drawing/2014/main" val="2312009780"/>
                    </a:ext>
                  </a:extLst>
                </a:gridCol>
              </a:tblGrid>
              <a:tr h="1387476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Feature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Simscape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Robot Engines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311"/>
                  </a:ext>
                </a:extLst>
              </a:tr>
              <a:tr h="73469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507289"/>
                          </a:solidFill>
                        </a:rPr>
                        <a:t>1. Coupling Strategy </a:t>
                      </a:r>
                      <a:endParaRPr lang="en-US" b="1" dirty="0">
                        <a:solidFill>
                          <a:srgbClr val="50728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Unified and bidirectional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Decoupled and assumes ideal actuation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199048"/>
                  </a:ext>
                </a:extLst>
              </a:tr>
              <a:tr h="73469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507289"/>
                          </a:solidFill>
                        </a:rPr>
                        <a:t>2. Actuator Fidelity </a:t>
                      </a:r>
                      <a:endParaRPr lang="en-US" b="1" dirty="0">
                        <a:solidFill>
                          <a:srgbClr val="50728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High (physical)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Low (kinematic)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66025"/>
                  </a:ext>
                </a:extLst>
              </a:tr>
              <a:tr h="73469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507289"/>
                          </a:solidFill>
                        </a:rPr>
                        <a:t>3. Solver Type </a:t>
                      </a:r>
                      <a:endParaRPr lang="en-US" b="1" dirty="0">
                        <a:solidFill>
                          <a:srgbClr val="50728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Implicit (stiff)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Explicit (fast)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788998"/>
                  </a:ext>
                </a:extLst>
              </a:tr>
              <a:tr h="73469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507289"/>
                          </a:solidFill>
                        </a:rPr>
                        <a:t>4. Component Detail</a:t>
                      </a:r>
                      <a:endParaRPr lang="en-US" b="1" dirty="0">
                        <a:solidFill>
                          <a:srgbClr val="50728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Physical networks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Abstract constraints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32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50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4C98-ED0E-C24D-39CF-2F806A2D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57431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Mechanical Subsystem 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A7B134-0BA4-4CEA-9ECB-BCB894D8BC3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87337" y="1584000"/>
                <a:ext cx="6444000" cy="4806000"/>
              </a:xfrm>
            </p:spPr>
            <p:txBody>
              <a:bodyPr wrap="square" anchor="t">
                <a:normAutofit/>
              </a:bodyPr>
              <a:lstStyle/>
              <a:p>
                <a:pPr marL="0" indent="0">
                  <a:buNone/>
                </a:pPr>
                <a:r>
                  <a:rPr lang="de-DE" b="1" u="sng" dirty="0"/>
                  <a:t>Workflow</a:t>
                </a:r>
                <a:r>
                  <a:rPr lang="de-DE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de-DE" dirty="0"/>
                  <a:t>Automated Pipeline CAD to URDF to ensure simulation captures mass distribution and cross couplings inertia terms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preserved. 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err="1"/>
                  <a:t>Simscape</a:t>
                </a:r>
                <a:r>
                  <a:rPr lang="en-US" dirty="0"/>
                  <a:t> Integration and Closed-loop kinematic  of cylinders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𝑟𝑜𝑑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frame alignment.  Assign masses and inertias of rigid bodies from geometry.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Force –to-torque coupling i.e. converting cylinder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to revolute joint torque using the kinematic Jacobian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𝑐𝑦𝑙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   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𝑐𝑦𝑙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A7B134-0BA4-4CEA-9ECB-BCB894D8B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87337" y="1584000"/>
                <a:ext cx="6444000" cy="4806000"/>
              </a:xfrm>
              <a:blipFill>
                <a:blip r:embed="rId2"/>
                <a:stretch>
                  <a:fillRect l="-946" t="-635" r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8CA10F5-1917-7418-EFC0-2CC2D48B21F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77000" y="1584000"/>
            <a:ext cx="2403714" cy="1602000"/>
          </a:xfrm>
        </p:spPr>
        <p:txBody>
          <a:bodyPr/>
          <a:lstStyle/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/>
              <a:t>            </a:t>
            </a:r>
            <a:endParaRPr lang="en-US" sz="16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D40B2F1-F35D-1F24-65E3-8C8BE715C2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616857" y="3177413"/>
            <a:ext cx="2124000" cy="1602000"/>
          </a:xfrm>
        </p:spPr>
        <p:txBody>
          <a:bodyPr/>
          <a:lstStyle/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E65382-65AA-858D-582E-1A9523FC5E16}"/>
              </a:ext>
            </a:extLst>
          </p:cNvPr>
          <p:cNvCxnSpPr>
            <a:cxnSpLocks/>
          </p:cNvCxnSpPr>
          <p:nvPr/>
        </p:nvCxnSpPr>
        <p:spPr>
          <a:xfrm>
            <a:off x="7315200" y="2057400"/>
            <a:ext cx="503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4325E4EF-F839-A9CD-1F14-F8F8006B8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8" y="1858633"/>
            <a:ext cx="948830" cy="389312"/>
          </a:xfrm>
          <a:prstGeom prst="rect">
            <a:avLst/>
          </a:prstGeom>
        </p:spPr>
      </p:pic>
      <p:pic>
        <p:nvPicPr>
          <p:cNvPr id="7" name="Picture 6" descr="A diagram of a puzzle with icons&#10;&#10;AI-generated content may be incorrect.">
            <a:extLst>
              <a:ext uri="{FF2B5EF4-FFF2-40B4-BE49-F238E27FC236}">
                <a16:creationId xmlns:a16="http://schemas.microsoft.com/office/drawing/2014/main" id="{EF6CFE64-9E9D-4C9E-B533-31E9A814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546" y="1784638"/>
            <a:ext cx="963253" cy="53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5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7459-DC31-2811-CEB6-B69BDC4E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Mechanical Subsystem (2)</a:t>
            </a:r>
            <a:endParaRPr lang="en-US" dirty="0"/>
          </a:p>
        </p:txBody>
      </p:sp>
      <p:pic>
        <p:nvPicPr>
          <p:cNvPr id="5" name="Content Placeholder 4" descr="A drawing of a machine&#10;&#10;AI-generated content may be incorrect.">
            <a:extLst>
              <a:ext uri="{FF2B5EF4-FFF2-40B4-BE49-F238E27FC236}">
                <a16:creationId xmlns:a16="http://schemas.microsoft.com/office/drawing/2014/main" id="{D1741914-8498-C19C-5843-A44C638351D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057400"/>
            <a:ext cx="7772400" cy="4207200"/>
          </a:xfrm>
          <a:noFill/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D379195-66EE-FD7F-C8F9-D2F7A0015B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86400" y="1736400"/>
            <a:ext cx="3445800" cy="642000"/>
          </a:xfrm>
        </p:spPr>
        <p:txBody>
          <a:bodyPr/>
          <a:lstStyle/>
          <a:p>
            <a:r>
              <a:rPr lang="de-DE" dirty="0"/>
              <a:t>5-DOF Mulag FME 500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F054-BEAC-0EAA-F4FD-EBF2E87E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7" y="990600"/>
            <a:ext cx="8568000" cy="468000"/>
          </a:xfrm>
        </p:spPr>
        <p:txBody>
          <a:bodyPr/>
          <a:lstStyle/>
          <a:p>
            <a:r>
              <a:rPr lang="de-DE" dirty="0"/>
              <a:t>Hydraulic Subsystem (1)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58BD-7663-DCA9-D7B4-8BFE803820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u="sng" dirty="0"/>
              <a:t>Circuit Design </a:t>
            </a:r>
          </a:p>
          <a:p>
            <a:r>
              <a:rPr lang="de-DE" dirty="0"/>
              <a:t>Fixed-displacement pump, gas-charged accumulator, 4/3 proportional directional control valves that drive the double-acting cylinders.</a:t>
            </a:r>
          </a:p>
          <a:p>
            <a:r>
              <a:rPr lang="de-DE" dirty="0"/>
              <a:t>Dynamic response of the hydraulic cylinder is governed by the bulk modulus of working fluid.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E258E2-1FE4-52FC-BF60-9FC3ADFC94FA}"/>
                  </a:ext>
                </a:extLst>
              </p:cNvPr>
              <p:cNvSpPr>
                <a:spLocks noGrp="1"/>
              </p:cNvSpPr>
              <p:nvPr>
                <p:ph sz="quarter" idx="18"/>
              </p:nvPr>
            </p:nvSpPr>
            <p:spPr>
              <a:xfrm>
                <a:off x="304800" y="4191000"/>
                <a:ext cx="2667000" cy="2438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b="1" u="sng" dirty="0"/>
                  <a:t>Cylinders 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1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de-DE" b="1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de-DE" b="1" dirty="0"/>
              </a:p>
              <a:p>
                <a:pPr marL="0" indent="0" algn="r">
                  <a:buNone/>
                </a:pPr>
                <a:endParaRPr lang="de-DE" b="1" dirty="0"/>
              </a:p>
              <a:p>
                <a:pPr marL="0" indent="0" algn="r">
                  <a:buNone/>
                </a:pPr>
                <a:endParaRPr lang="de-DE" b="1" dirty="0"/>
              </a:p>
              <a:p>
                <a:r>
                  <a:rPr lang="de-DE" sz="1600" dirty="0"/>
                  <a:t>Dead volumes</a:t>
                </a:r>
              </a:p>
              <a:p>
                <a:r>
                  <a:rPr lang="de-DE" sz="1600" dirty="0"/>
                  <a:t>Stribeck friction</a:t>
                </a:r>
                <a:r>
                  <a:rPr lang="de-DE" dirty="0"/>
                  <a:t> </a:t>
                </a:r>
                <a:r>
                  <a:rPr lang="de-DE" sz="1600" dirty="0"/>
                  <a:t>and internal leakage</a:t>
                </a:r>
                <a:r>
                  <a:rPr lang="de-DE" dirty="0"/>
                  <a:t>              </a:t>
                </a: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E258E2-1FE4-52FC-BF60-9FC3ADFC9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8"/>
              </p:nvPr>
            </p:nvSpPr>
            <p:spPr>
              <a:xfrm>
                <a:off x="304800" y="4191000"/>
                <a:ext cx="2667000" cy="2438400"/>
              </a:xfrm>
              <a:blipFill>
                <a:blip r:embed="rId2"/>
                <a:stretch>
                  <a:fillRect l="-2283" t="-1250" b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7FDACEE-A1E8-124D-E6B6-6D74C9A77102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3505200" y="4223222"/>
                <a:ext cx="2961454" cy="228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b="1" u="sng" dirty="0"/>
                  <a:t>Valve</a:t>
                </a:r>
              </a:p>
              <a:p>
                <a:r>
                  <a:rPr lang="en-US" sz="1600" dirty="0"/>
                  <a:t>Flow is nonlinear and follows orifice equation</a:t>
                </a:r>
              </a:p>
              <a:p>
                <a:pPr marL="0" indent="0"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endParaRPr lang="en-US" b="1" u="sng" dirty="0"/>
              </a:p>
              <a:p>
                <a:pPr marL="0" indent="0">
                  <a:buNone/>
                </a:pPr>
                <a:endParaRPr lang="en-US" b="1" u="sn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7FDACEE-A1E8-124D-E6B6-6D74C9A77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3505200" y="4223222"/>
                <a:ext cx="2961454" cy="2286000"/>
              </a:xfrm>
              <a:blipFill>
                <a:blip r:embed="rId3"/>
                <a:stretch>
                  <a:fillRect l="-2058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34656A6-6DF8-1649-05F4-DC6AD02AE5F3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6466654" y="4201898"/>
                <a:ext cx="2524946" cy="228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b="1" u="sng" dirty="0"/>
                  <a:t>Fluid Properties</a:t>
                </a:r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de-DE" b="1" dirty="0"/>
                  <a:t> </a:t>
                </a:r>
              </a:p>
              <a:p>
                <a:pPr marL="0" indent="0">
                  <a:buNone/>
                </a:pPr>
                <a:r>
                  <a:rPr lang="de-DE" b="1" dirty="0"/>
                  <a:t>                     </a:t>
                </a:r>
              </a:p>
              <a:p>
                <a:pPr marL="0" indent="0">
                  <a:buNone/>
                </a:pPr>
                <a:endParaRPr lang="de-DE" b="1" dirty="0"/>
              </a:p>
              <a:p>
                <a:r>
                  <a:rPr lang="de-DE" sz="1600" dirty="0"/>
                  <a:t>Entrained Air </a:t>
                </a:r>
              </a:p>
              <a:p>
                <a:r>
                  <a:rPr lang="de-DE" sz="1600" dirty="0"/>
                  <a:t>Bidirectional coupling</a:t>
                </a:r>
                <a:r>
                  <a:rPr lang="de-DE" sz="1600" b="1" dirty="0"/>
                  <a:t> 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34656A6-6DF8-1649-05F4-DC6AD02AE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6466654" y="4201898"/>
                <a:ext cx="2524946" cy="2286000"/>
              </a:xfrm>
              <a:blipFill>
                <a:blip r:embed="rId4"/>
                <a:stretch>
                  <a:fillRect l="-2657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469E9C64-5D88-C042-9E8E-3DC9BFE0603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81800" y="1295400"/>
                <a:ext cx="2299242" cy="228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60363" indent="-360363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B92819"/>
                  </a:buClr>
                  <a:buFont typeface="Wingdings" pitchFamily="2" charset="2"/>
                  <a:buChar char="§"/>
                  <a:defRPr sz="2000" b="0" kern="1200">
                    <a:solidFill>
                      <a:srgbClr val="507289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lang="de-DE" b="1" u="sng" dirty="0"/>
                  <a:t>Pump</a:t>
                </a:r>
              </a:p>
              <a:p>
                <a:pPr marL="0" indent="0">
                  <a:buFont typeface="Wingdings" pitchFamily="2" charset="2"/>
                  <a:buNone/>
                </a:pPr>
                <a:endParaRPr lang="en-US" u="sng" dirty="0"/>
              </a:p>
              <a:p>
                <a:pPr marL="0" indent="0">
                  <a:buFont typeface="Wingdings" pitchFamily="2" charset="2"/>
                  <a:buNone/>
                </a:pPr>
                <a:endParaRPr lang="en-US" u="sng" dirty="0"/>
              </a:p>
              <a:p>
                <a:pPr marL="0" indent="0">
                  <a:buFont typeface="Wingdings" pitchFamily="2" charset="2"/>
                  <a:buNone/>
                </a:pPr>
                <a:endParaRPr lang="en-US" u="sng" dirty="0"/>
              </a:p>
              <a:p>
                <a:r>
                  <a:rPr lang="en-US" sz="1600" dirty="0"/>
                  <a:t>Constant flow generation.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Font typeface="Wingdings" pitchFamily="2" charset="2"/>
                  <a:buNone/>
                </a:pPr>
                <a:endParaRPr lang="en-US" u="sng" dirty="0"/>
              </a:p>
              <a:p>
                <a:pPr marL="0" indent="0">
                  <a:buFont typeface="Wingdings" pitchFamily="2" charset="2"/>
                  <a:buNone/>
                </a:pPr>
                <a:endParaRPr lang="en-US" u="sng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469E9C64-5D88-C042-9E8E-3DC9BFE06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1800" y="1295400"/>
                <a:ext cx="2299242" cy="2286000"/>
              </a:xfrm>
              <a:prstGeom prst="rect">
                <a:avLst/>
              </a:prstGeom>
              <a:blipFill>
                <a:blip r:embed="rId5"/>
                <a:stretch>
                  <a:fillRect l="-2918" t="-1333" b="-8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8DC7476-5A8F-84DC-CD3B-A6D6ED512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772" y="1763400"/>
            <a:ext cx="843355" cy="903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71768-7BA1-7512-3611-ACC6373E6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646817"/>
            <a:ext cx="762000" cy="9032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DEFC3-C199-48B4-817F-951C8C92F8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7198" y="5105400"/>
            <a:ext cx="914400" cy="975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F86737-6E15-3637-19D7-66E54F9FB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577759"/>
            <a:ext cx="967198" cy="94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7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9DC9-FE26-DCEA-959C-73096207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Hydraulic Subsystem (2) 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867B25-45C8-CF9F-837F-4D3B454775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3600" y="1170000"/>
            <a:ext cx="2743200" cy="1192200"/>
          </a:xfrm>
        </p:spPr>
        <p:txBody>
          <a:bodyPr/>
          <a:lstStyle/>
          <a:p>
            <a:r>
              <a:rPr lang="de-DE" dirty="0"/>
              <a:t>Electro-hydraulic actuator subsystem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0C9EEF-508F-7D95-3544-0233DEDCF6E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0" y="1524000"/>
            <a:ext cx="4953000" cy="43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DB05CBC3-D045-D21B-09A3-02FC9BB2417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1000" y="5253334"/>
                <a:ext cx="4284000" cy="668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60363" indent="-360363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B92819"/>
                  </a:buClr>
                  <a:buFont typeface="Wingdings" pitchFamily="2" charset="2"/>
                  <a:buChar char="§"/>
                  <a:defRPr sz="2000" b="0" kern="1200">
                    <a:solidFill>
                      <a:srgbClr val="507289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DE" sz="1600" dirty="0">
                    <a:solidFill>
                      <a:srgbClr val="FF0000"/>
                    </a:solidFill>
                  </a:rPr>
                  <a:t>Spool position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:   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1600" dirty="0"/>
                  <a:t>        (1)</a:t>
                </a:r>
              </a:p>
            </p:txBody>
          </p:sp>
        </mc:Choice>
        <mc:Fallback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DB05CBC3-D045-D21B-09A3-02FC9BB24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5253334"/>
                <a:ext cx="4284000" cy="668666"/>
              </a:xfrm>
              <a:prstGeom prst="rect">
                <a:avLst/>
              </a:prstGeom>
              <a:blipFill>
                <a:blip r:embed="rId3"/>
                <a:stretch>
                  <a:fillRect l="-855" t="-27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2ECC8E-A42E-1946-B9D3-3F49923E07C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1000" y="4365863"/>
                <a:ext cx="4284000" cy="668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60363" indent="-360363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B92819"/>
                  </a:buClr>
                  <a:buFont typeface="Wingdings" pitchFamily="2" charset="2"/>
                  <a:buChar char="§"/>
                  <a:defRPr sz="2000" b="0" kern="1200">
                    <a:solidFill>
                      <a:srgbClr val="507289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DE" sz="1600" dirty="0">
                    <a:solidFill>
                      <a:srgbClr val="FF0000"/>
                    </a:solidFill>
                  </a:rPr>
                  <a:t>Orifice Equation</a:t>
                </a:r>
                <a:r>
                  <a:rPr lang="de-DE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 i="0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rad>
                    <m:r>
                      <a:rPr lang="en-US" sz="16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/>
                  <a:t>   (2)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2ECC8E-A42E-1946-B9D3-3F49923E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4365863"/>
                <a:ext cx="4284000" cy="668666"/>
              </a:xfrm>
              <a:prstGeom prst="rect">
                <a:avLst/>
              </a:prstGeom>
              <a:blipFill>
                <a:blip r:embed="rId4"/>
                <a:stretch>
                  <a:fillRect l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E8EB4E94-C0FF-F5DB-555E-449121EB754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1000" y="3581400"/>
                <a:ext cx="5056297" cy="668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60363" indent="-360363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B92819"/>
                  </a:buClr>
                  <a:buFont typeface="Wingdings" pitchFamily="2" charset="2"/>
                  <a:buChar char="§"/>
                  <a:defRPr sz="2000" b="0" kern="1200">
                    <a:solidFill>
                      <a:srgbClr val="507289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DE" sz="1600" dirty="0">
                    <a:solidFill>
                      <a:srgbClr val="FF0000"/>
                    </a:solidFill>
                  </a:rPr>
                  <a:t>Pressure Buildup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de-DE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𝑓𝑓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60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acc>
                          <m:accPr>
                            <m:chr m:val="̇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ⅇ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𝑎𝑘𝑎𝑔</m:t>
                        </m:r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</m:d>
                  </m:oMath>
                </a14:m>
                <a:r>
                  <a:rPr lang="en-US" sz="1600" dirty="0"/>
                  <a:t> (3)       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E8EB4E94-C0FF-F5DB-555E-449121EB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3581400"/>
                <a:ext cx="5056297" cy="668666"/>
              </a:xfrm>
              <a:prstGeom prst="rect">
                <a:avLst/>
              </a:prstGeom>
              <a:blipFill>
                <a:blip r:embed="rId5"/>
                <a:stretch>
                  <a:fillRect l="-724" r="-55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88DAEFDF-235F-5FBE-59A5-78B0FDF5B5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91000" y="2431929"/>
                <a:ext cx="4284000" cy="668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60363" indent="-360363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B92819"/>
                  </a:buClr>
                  <a:buFont typeface="Wingdings" pitchFamily="2" charset="2"/>
                  <a:buChar char="§"/>
                  <a:defRPr sz="2000" b="0" kern="1200">
                    <a:solidFill>
                      <a:srgbClr val="507289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77B6BA"/>
                  </a:buClr>
                  <a:buFont typeface="Wingdings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DE" sz="1600" dirty="0">
                    <a:solidFill>
                      <a:srgbClr val="FF0000"/>
                    </a:solidFill>
                  </a:rPr>
                  <a:t>Output Force: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sz="1600" b="0" i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𝑟𝑖𝑐</m:t>
                        </m:r>
                      </m:sub>
                    </m:sSub>
                  </m:oMath>
                </a14:m>
                <a:r>
                  <a:rPr lang="en-US" sz="1600" dirty="0"/>
                  <a:t>     (4)</a:t>
                </a:r>
              </a:p>
            </p:txBody>
          </p:sp>
        </mc:Choice>
        <mc:Fallback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88DAEFDF-235F-5FBE-59A5-78B0FDF5B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431929"/>
                <a:ext cx="4284000" cy="668666"/>
              </a:xfrm>
              <a:prstGeom prst="rect">
                <a:avLst/>
              </a:prstGeom>
              <a:blipFill>
                <a:blip r:embed="rId6"/>
                <a:stretch>
                  <a:fillRect l="-855" t="-27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07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7353-C067-7E84-77BE-07C1783FF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6443337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Integrated System 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85D2383-83B4-BB64-BD50-630D780F52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337" y="1584000"/>
            <a:ext cx="6444000" cy="4806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diagram of a diagram of a diagram">
            <a:extLst>
              <a:ext uri="{FF2B5EF4-FFF2-40B4-BE49-F238E27FC236}">
                <a16:creationId xmlns:a16="http://schemas.microsoft.com/office/drawing/2014/main" id="{DAB27E90-EF4D-0465-E8E8-11C80393145A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2"/>
          <a:stretch>
            <a:fillRect/>
          </a:stretch>
        </p:blipFill>
        <p:spPr>
          <a:xfrm>
            <a:off x="168612" y="1406059"/>
            <a:ext cx="8686800" cy="2895600"/>
          </a:xfr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C67DC61-0A4B-F12E-1F2F-4C5A57B1A7E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99712" y="4800600"/>
            <a:ext cx="5262888" cy="1450800"/>
          </a:xfrm>
        </p:spPr>
        <p:txBody>
          <a:bodyPr/>
          <a:lstStyle/>
          <a:p>
            <a:pPr algn="just"/>
            <a:r>
              <a:rPr lang="de-DE" sz="1600" dirty="0"/>
              <a:t>The system is stiff due to the mix of fast pressure transients and slow boom motion.</a:t>
            </a:r>
          </a:p>
          <a:p>
            <a:pPr algn="just"/>
            <a:r>
              <a:rPr lang="de-DE" sz="1600" dirty="0"/>
              <a:t>Variable-step implicit solver is used to resolve</a:t>
            </a:r>
          </a:p>
          <a:p>
            <a:pPr marL="0" indent="0" algn="just">
              <a:buNone/>
            </a:pPr>
            <a:r>
              <a:rPr lang="de-DE" sz="1600" dirty="0"/>
              <a:t>       compliance without the global step sizeo </a:t>
            </a:r>
            <a:r>
              <a:rPr lang="de-DE" sz="1600" dirty="0">
                <a:solidFill>
                  <a:srgbClr val="FF0000"/>
                </a:solidFill>
              </a:rPr>
              <a:t>[ode23t]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A7579021-8DF1-FE75-D20E-94FA9EC1447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43712" y="3505200"/>
            <a:ext cx="2324088" cy="990600"/>
          </a:xfrm>
        </p:spPr>
        <p:txBody>
          <a:bodyPr/>
          <a:lstStyle/>
          <a:p>
            <a:r>
              <a:rPr lang="de-DE" sz="1600" dirty="0"/>
              <a:t>Flow rate 40 L/min rated 280 bar to 360 bar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5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4F67-0348-0D30-B9DD-FB76AB91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Control Design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713125C-2BEC-A87A-5F33-850DE696C2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" y="1579750"/>
            <a:ext cx="4194000" cy="2314800"/>
          </a:xfrm>
        </p:spPr>
        <p:txBody>
          <a:bodyPr wrap="square" anchor="t">
            <a:normAutofit/>
          </a:bodyPr>
          <a:lstStyle/>
          <a:p>
            <a:r>
              <a:rPr lang="de-DE" dirty="0"/>
              <a:t>The controller serves as a validation instrument to validate the plant.</a:t>
            </a:r>
          </a:p>
          <a:p>
            <a:r>
              <a:rPr lang="de-DE" dirty="0"/>
              <a:t>A decentralized </a:t>
            </a:r>
            <a:r>
              <a:rPr lang="de-DE" b="1" dirty="0"/>
              <a:t>Integral Backstepping Controller </a:t>
            </a:r>
            <a:r>
              <a:rPr lang="de-DE" dirty="0"/>
              <a:t>is used to stabilize error dynamics.</a:t>
            </a:r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E1EE94-C4C4-1F6B-0800-083A9055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00" y="4070300"/>
            <a:ext cx="7772400" cy="22936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4BF7D-62D8-0BD3-4D00-9A4D58A5C30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346400" y="838200"/>
                <a:ext cx="4572000" cy="3429000"/>
              </a:xfrm>
            </p:spPr>
            <p:txBody>
              <a:bodyPr/>
              <a:lstStyle/>
              <a:p>
                <a:pPr marL="342900" indent="-342900">
                  <a:buAutoNum type="arabicPeriod"/>
                </a:pPr>
                <a:r>
                  <a:rPr lang="en-US" sz="1400" dirty="0">
                    <a:latin typeface="Cambria Math" panose="02040503050406030204" pitchFamily="18" charset="0"/>
                  </a:rPr>
                  <a:t>Position error: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𝑚𝑒𝑎𝑠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AutoNum type="arabicPeriod"/>
                </a:pPr>
                <a:endParaRPr lang="en-US" sz="1400" dirty="0"/>
              </a:p>
              <a:p>
                <a:pPr marL="342900" indent="-342900">
                  <a:buAutoNum type="arabicPeriod"/>
                </a:pPr>
                <a:r>
                  <a:rPr lang="en-US" sz="1400" dirty="0"/>
                  <a:t>Virtual velocity: </a:t>
                </a:r>
                <a14:m>
                  <m:oMath xmlns:m="http://schemas.openxmlformats.org/officeDocument/2006/math">
                    <m:r>
                      <a:rPr lang="de-DE" sz="1400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DE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AutoNum type="arabicPeriod"/>
                </a:pPr>
                <a:endParaRPr lang="en-US" sz="1400" dirty="0"/>
              </a:p>
              <a:p>
                <a:pPr marL="342900" indent="-342900">
                  <a:buAutoNum type="arabicPeriod"/>
                </a:pPr>
                <a:r>
                  <a:rPr lang="en-US" sz="1400" dirty="0"/>
                  <a:t>Velocity error: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de-DE" sz="1400" b="0" i="1" dirty="0" smtClean="0">
                            <a:latin typeface="Cambria Math" panose="02040503050406030204" pitchFamily="18" charset="0"/>
                          </a:rPr>
                          <m:t>𝑚𝑒𝑎𝑠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  <a:p>
                <a:pPr marL="342900" indent="-342900">
                  <a:buAutoNum type="arabicPeriod"/>
                </a:pPr>
                <a:endParaRPr lang="en-US" sz="1400" dirty="0"/>
              </a:p>
              <a:p>
                <a:pPr marL="342900" indent="-342900">
                  <a:buAutoNum type="arabicPeriod"/>
                </a:pPr>
                <a:r>
                  <a:rPr lang="en-US" sz="1400" dirty="0"/>
                  <a:t>Integral Action: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sz="1400" i="0" dirty="0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sz="1400" i="0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AutoNum type="arabicPeriod"/>
                </a:pPr>
                <a:endParaRPr lang="en-US" sz="1400" dirty="0"/>
              </a:p>
              <a:p>
                <a:pPr marL="342900" indent="-342900">
                  <a:buAutoNum type="arabicPeriod"/>
                </a:pPr>
                <a:r>
                  <a:rPr lang="en-US" sz="1400" dirty="0"/>
                  <a:t>Control Law:            v </a:t>
                </a:r>
                <a14:m>
                  <m:oMath xmlns:m="http://schemas.openxmlformats.org/officeDocument/2006/math"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400" b="0" i="1" dirty="0" smtClean="0">
                            <a:latin typeface="Cambria Math" panose="02040503050406030204" pitchFamily="18" charset="0"/>
                          </a:rPr>
                          <m:t>𝑛𝑡</m:t>
                        </m:r>
                      </m:sub>
                    </m:sSub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400" b="0" i="1" dirty="0" smtClean="0">
                            <a:latin typeface="Cambria Math" panose="02040503050406030204" pitchFamily="18" charset="0"/>
                          </a:rPr>
                          <m:t>𝑛𝑡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342900" indent="-342900">
                  <a:buAutoNum type="arabicPeriod"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600" dirty="0"/>
                  <a:t>               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600" b="1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de-DE" sz="16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0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1" i="1" dirty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1600" b="1" i="1" dirty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de-DE" sz="1600" b="1" i="1" dirty="0" smtClean="0">
                                <a:latin typeface="Cambria Math" panose="02040503050406030204" pitchFamily="18" charset="0"/>
                              </a:rPr>
                              <m:t>𝒓𝒊𝒄</m:t>
                            </m:r>
                            <m:r>
                              <a:rPr lang="de-DE" sz="16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600" b="1" i="0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DE" sz="16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de-DE" sz="1600" b="1" i="1" dirty="0" smtClean="0">
                            <a:latin typeface="Cambria Math" panose="02040503050406030204" pitchFamily="18" charset="0"/>
                          </a:rPr>
                          <m:t>𝒈𝒏</m:t>
                        </m:r>
                        <m:d>
                          <m:dPr>
                            <m:ctrlPr>
                              <a:rPr lang="en-US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1600" b="1" i="0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600" b="1" i="1" dirty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de-DE" sz="1600" b="1" i="1" dirty="0" smtClean="0">
                                <a:latin typeface="Cambria Math" panose="02040503050406030204" pitchFamily="18" charset="0"/>
                              </a:rPr>
                              <m:t>𝒚𝒔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/>
                  <a:t> 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𝑦𝑠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0" dirty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4BF7D-62D8-0BD3-4D00-9A4D58A5C3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346400" y="838200"/>
                <a:ext cx="4572000" cy="3429000"/>
              </a:xfrm>
              <a:blipFill>
                <a:blip r:embed="rId3"/>
                <a:stretch>
                  <a:fillRect l="-400" t="-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4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AC33-F995-3E34-0D2F-85A11A8C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Design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E693E-CFFB-7B55-313D-842246B88D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u="sng" dirty="0"/>
              <a:t>Joint Space Control</a:t>
            </a:r>
          </a:p>
          <a:p>
            <a:pPr marL="0" indent="0">
              <a:buNone/>
            </a:pPr>
            <a:endParaRPr lang="de-DE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F6FB1891-ED8F-4EA9-CD29-7F228C44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68" y="2057400"/>
            <a:ext cx="801846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11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D915-9A02-39D7-8DBF-2D967491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Simulation 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3A79B83-14B6-2391-65A8-19251C49B6F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88000" y="5791200"/>
            <a:ext cx="8703600" cy="600672"/>
          </a:xfrm>
        </p:spPr>
        <p:txBody>
          <a:bodyPr/>
          <a:lstStyle/>
          <a:p>
            <a:r>
              <a:rPr lang="de-DE" sz="1600" dirty="0"/>
              <a:t>With the control architecture in place, the mower head was commanded to follow a closed-loop reference path in the task space.</a:t>
            </a:r>
            <a:endParaRPr lang="en-US" sz="1600" dirty="0"/>
          </a:p>
        </p:txBody>
      </p:sp>
      <p:pic>
        <p:nvPicPr>
          <p:cNvPr id="5" name="Video_251210090318">
            <a:hlinkClick r:id="" action="ppaction://media"/>
            <a:extLst>
              <a:ext uri="{FF2B5EF4-FFF2-40B4-BE49-F238E27FC236}">
                <a16:creationId xmlns:a16="http://schemas.microsoft.com/office/drawing/2014/main" id="{95110A48-BCBA-726F-0D20-7E4F9FDB6E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420224"/>
            <a:ext cx="7772400" cy="432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6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2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8C8F-E2F3-C2C3-B5A3-F5784158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Validation Strategy (Hydraulic Actuation Delay)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22FFD-1CED-5346-585D-952F467FC13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Signal propagation is tracked through three stages: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Valve command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</a:t>
                </a:r>
                <a:r>
                  <a:rPr lang="en-US" b="1" dirty="0"/>
                  <a:t>Pressure Buildup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 </a:t>
                </a:r>
                <a:r>
                  <a:rPr lang="en-US" b="1" dirty="0"/>
                  <a:t>Joint Motion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                      </a:t>
                </a:r>
              </a:p>
              <a:p>
                <a:r>
                  <a:rPr lang="en-US" dirty="0"/>
                  <a:t>To avoid noise, start time is defined for each event the moment it reaches 50% of it’s maximum value.</a:t>
                </a:r>
              </a:p>
              <a:p>
                <a:r>
                  <a:rPr lang="en-US" dirty="0"/>
                  <a:t>The primary metric 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b="1" i="0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de-DE" b="1" i="0" dirty="0" smtClean="0">
                        <a:latin typeface="Cambria Math" panose="02040503050406030204" pitchFamily="18" charset="0"/>
                      </a:rPr>
                      <m:t>𝐨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ⅈ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𝒏𝒕</m:t>
                    </m:r>
                  </m:oMath>
                </a14:m>
                <a:r>
                  <a:rPr lang="en-US" b="1" dirty="0"/>
                  <a:t>) </a:t>
                </a:r>
                <a:r>
                  <a:rPr lang="en-US" dirty="0"/>
                  <a:t>valve to joint delay (total time elapsed from valve and when arm starts to move i.e.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). </a:t>
                </a:r>
                <a:endParaRPr lang="en-US" b="1" dirty="0"/>
              </a:p>
              <a:p>
                <a:r>
                  <a:rPr lang="en-US" dirty="0"/>
                  <a:t>The system score the </a:t>
                </a:r>
                <a:r>
                  <a:rPr lang="en-US" b="1" dirty="0"/>
                  <a:t>delay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𝑹𝑴𝑺</m:t>
                        </m:r>
                      </m:sub>
                    </m:sSub>
                    <m:r>
                      <a:rPr lang="de-DE" b="1" i="0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aggregates the delays of all the 4 joints to score overall sluggishness of the machine.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US" sz="1600" i="0" dirty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0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0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0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 dirty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1600" i="0" dirty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de-DE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𝑗𝑜𝑖𝑛𝑡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6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6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600" i="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22FFD-1CED-5346-585D-952F467FC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11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A57C4E-DF01-2A80-3044-FF41B0F95C11}"/>
              </a:ext>
            </a:extLst>
          </p:cNvPr>
          <p:cNvCxnSpPr>
            <a:cxnSpLocks/>
          </p:cNvCxnSpPr>
          <p:nvPr/>
        </p:nvCxnSpPr>
        <p:spPr>
          <a:xfrm>
            <a:off x="2895600" y="251254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03817F-F160-F3C9-BA14-AEC3FB2362CD}"/>
              </a:ext>
            </a:extLst>
          </p:cNvPr>
          <p:cNvCxnSpPr>
            <a:cxnSpLocks/>
          </p:cNvCxnSpPr>
          <p:nvPr/>
        </p:nvCxnSpPr>
        <p:spPr>
          <a:xfrm>
            <a:off x="6096000" y="251254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939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128B-2F2F-62CE-502B-8C09F096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Validation Strategy (Task Space Tracking Error) </a:t>
            </a:r>
            <a:endParaRPr lang="en-US" dirty="0"/>
          </a:p>
        </p:txBody>
      </p:sp>
      <p:pic>
        <p:nvPicPr>
          <p:cNvPr id="5" name="Content Placeholder 4" descr="A graph of a task space trajectory tracking">
            <a:extLst>
              <a:ext uri="{FF2B5EF4-FFF2-40B4-BE49-F238E27FC236}">
                <a16:creationId xmlns:a16="http://schemas.microsoft.com/office/drawing/2014/main" id="{AD9CCD70-0CA5-EC4C-2300-1631259D64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11885" y="2286000"/>
            <a:ext cx="4350115" cy="2971800"/>
          </a:xfr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8A9FE-A3C4-0F2F-C9FA-F7FC1DF124A8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62000" y="1584000"/>
                <a:ext cx="4194000" cy="4806000"/>
              </a:xfrm>
            </p:spPr>
            <p:txBody>
              <a:bodyPr wrap="square" anchor="t">
                <a:normAutofit/>
              </a:bodyPr>
              <a:lstStyle/>
              <a:p>
                <a:r>
                  <a:rPr lang="de-DE" dirty="0"/>
                  <a:t>The instantaneous Euclidean distance between reference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𝒆𝒇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mower head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de-DE" b="1" i="1" dirty="0" smtClean="0">
                            <a:latin typeface="Cambria Math" panose="02040503050406030204" pitchFamily="18" charset="0"/>
                          </a:rPr>
                          <m:t>𝒎𝒆𝒂𝒔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/>
                  <a:t> is quantified.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global score is summarized as the </a:t>
                </a:r>
                <a:r>
                  <a:rPr lang="en-US" b="1" dirty="0"/>
                  <a:t>Root Mean Square (RMS) </a:t>
                </a:r>
                <a:r>
                  <a:rPr lang="en-US" dirty="0"/>
                  <a:t>of </a:t>
                </a:r>
                <a:r>
                  <a:rPr lang="en-US" b="1" dirty="0"/>
                  <a:t>Error </a:t>
                </a:r>
                <a:r>
                  <a:rPr lang="en-US" dirty="0"/>
                  <a:t>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𝑹𝑴𝑺</m:t>
                        </m:r>
                      </m:sub>
                    </m:sSub>
                    <m:r>
                      <a:rPr lang="de-DE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given by formula: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subSup"/>
                              <m:grow m:val="on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b="0" i="0" dirty="0" smtClean="0">
                                      <a:latin typeface="Cambria Math" panose="02040503050406030204" pitchFamily="18" charset="0"/>
                                    </a:rPr>
                                    <m:t>start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b="0" i="0" dirty="0" smtClean="0">
                                      <a:latin typeface="Cambria Math" panose="02040503050406030204" pitchFamily="18" charset="0"/>
                                    </a:rPr>
                                    <m:t>end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ⅇ</m:t>
                                  </m:r>
                                </m:e>
                                <m:sup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8A9FE-A3C4-0F2F-C9FA-F7FC1DF124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62000" y="1584000"/>
                <a:ext cx="4194000" cy="4806000"/>
              </a:xfrm>
              <a:blipFill>
                <a:blip r:embed="rId3"/>
                <a:stretch>
                  <a:fillRect l="-1308" t="-635" r="-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1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7C8B-B23B-5DB5-1EF8-F4523E60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Results and Discussion 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4C51A22-08C9-F7D2-0A71-988F640DF0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261" y="3276600"/>
            <a:ext cx="7443261" cy="318653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0C84-EC6A-BE24-1FDA-91E7CCCACA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09354" y="1371600"/>
            <a:ext cx="1524000" cy="838200"/>
          </a:xfrm>
        </p:spPr>
        <p:txBody>
          <a:bodyPr wrap="square" anchor="t">
            <a:normAutofit lnSpcReduction="10000"/>
          </a:bodyPr>
          <a:lstStyle/>
          <a:p>
            <a:r>
              <a:rPr lang="de-DE" sz="1000" b="1" u="sng" dirty="0"/>
              <a:t>Valve-to-joint 50% delays and delay index for different bulk moduli </a:t>
            </a:r>
            <a:endParaRPr lang="en-US" sz="10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09152A-9CD8-F52C-9A00-EE56B32458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677679"/>
                  </p:ext>
                </p:extLst>
              </p:nvPr>
            </p:nvGraphicFramePr>
            <p:xfrm>
              <a:off x="37259" y="1371600"/>
              <a:ext cx="7443263" cy="1823075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509077">
                      <a:extLst>
                        <a:ext uri="{9D8B030D-6E8A-4147-A177-3AD203B41FA5}">
                          <a16:colId xmlns:a16="http://schemas.microsoft.com/office/drawing/2014/main" val="2299938317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2455977820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1555758196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3293816546"/>
                        </a:ext>
                      </a:extLst>
                    </a:gridCol>
                    <a:gridCol w="1269003">
                      <a:extLst>
                        <a:ext uri="{9D8B030D-6E8A-4147-A177-3AD203B41FA5}">
                          <a16:colId xmlns:a16="http://schemas.microsoft.com/office/drawing/2014/main" val="259720482"/>
                        </a:ext>
                      </a:extLst>
                    </a:gridCol>
                  </a:tblGrid>
                  <a:tr h="6934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cap="none" spc="6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300" b="0" i="1" cap="none" spc="6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b="0" cap="none" spc="6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𝑮𝑷𝒂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4421" marR="74421" marT="74421" marB="3721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cap="none" spc="6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)→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𝐨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ⅈ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𝒏𝒕</m:t>
                                </m:r>
                              </m:oMath>
                            </m:oMathPara>
                          </a14:m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[</a:t>
                          </a:r>
                          <a:r>
                            <a:rPr lang="en-US" sz="1300" b="0" cap="none" spc="60" dirty="0" err="1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]</a:t>
                          </a:r>
                        </a:p>
                      </a:txBody>
                      <a:tcPr marL="74421" marR="74421" marT="74421" marB="3721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cap="none" spc="6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)→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𝐨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ⅈ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𝒏𝒕</m:t>
                                </m:r>
                              </m:oMath>
                            </m:oMathPara>
                          </a14:m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[</a:t>
                          </a:r>
                          <a:r>
                            <a:rPr lang="en-US" sz="1300" b="0" cap="none" spc="60" dirty="0" err="1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]</a:t>
                          </a:r>
                        </a:p>
                        <a:p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4421" marR="74421" marT="74421" marB="3721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cap="none" spc="6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)→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de-DE" sz="1300" b="0" cap="none" spc="6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𝐨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ⅈ</m:t>
                                </m:r>
                                <m:r>
                                  <a:rPr lang="en-US" sz="1300" b="0" cap="none" spc="6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𝒏𝒕</m:t>
                                </m:r>
                              </m:oMath>
                            </m:oMathPara>
                          </a14:m>
                          <a:endParaRPr lang="en-US" sz="1300" b="0" cap="none" spc="60">
                            <a:solidFill>
                              <a:schemeClr val="bg1"/>
                            </a:solidFill>
                          </a:endParaRPr>
                        </a:p>
                        <a:p>
                          <a:r>
                            <a:rPr lang="en-US" sz="1300" b="0" cap="none" spc="60">
                              <a:solidFill>
                                <a:schemeClr val="bg1"/>
                              </a:solidFill>
                            </a:rPr>
                            <a:t>[</a:t>
                          </a:r>
                          <a:r>
                            <a:rPr lang="en-US" sz="1300" b="0" cap="none" spc="60" err="1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en-US" sz="1300" b="0" cap="none" spc="60">
                              <a:solidFill>
                                <a:schemeClr val="bg1"/>
                              </a:solidFill>
                            </a:rPr>
                            <a:t>]</a:t>
                          </a:r>
                        </a:p>
                        <a:p>
                          <a:endParaRPr lang="en-US" sz="1300" b="0" cap="none" spc="6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4421" marR="74421" marT="74421" marB="3721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cap="none" spc="6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cap="none" spc="6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de-DE" sz="1300" b="0" cap="none" spc="6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𝑹𝑴𝑺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[</a:t>
                          </a:r>
                          <a:r>
                            <a:rPr lang="en-US" sz="1300" b="0" cap="none" spc="60" dirty="0" err="1">
                              <a:solidFill>
                                <a:schemeClr val="bg1"/>
                              </a:solidFill>
                            </a:rPr>
                            <a:t>ms</a:t>
                          </a:r>
                          <a:r>
                            <a:rPr lang="en-US" sz="1300" b="0" cap="none" spc="60" dirty="0">
                              <a:solidFill>
                                <a:schemeClr val="bg1"/>
                              </a:solidFill>
                            </a:rPr>
                            <a:t>]</a:t>
                          </a:r>
                        </a:p>
                        <a:p>
                          <a:endParaRPr lang="en-US" sz="1300" b="0" cap="none" spc="6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4421" marR="74421" marT="74421" marB="37210" anchor="ctr"/>
                    </a:tc>
                    <a:extLst>
                      <a:ext uri="{0D108BD9-81ED-4DB2-BD59-A6C34878D82A}">
                        <a16:rowId xmlns:a16="http://schemas.microsoft.com/office/drawing/2014/main" val="2826667730"/>
                      </a:ext>
                    </a:extLst>
                  </a:tr>
                  <a:tr h="274308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847.4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186.3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202.1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445.4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1620451794"/>
                      </a:ext>
                    </a:extLst>
                  </a:tr>
                  <a:tr h="274308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1.0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725.3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168.8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206.4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386.4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2857507175"/>
                      </a:ext>
                    </a:extLst>
                  </a:tr>
                  <a:tr h="274308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1.5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674.0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149.9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215.8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361.7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124296886"/>
                      </a:ext>
                    </a:extLst>
                  </a:tr>
                  <a:tr h="274308"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2.0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649.7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152.4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221.6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351.6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21622545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09152A-9CD8-F52C-9A00-EE56B32458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677679"/>
                  </p:ext>
                </p:extLst>
              </p:nvPr>
            </p:nvGraphicFramePr>
            <p:xfrm>
              <a:off x="37259" y="1371600"/>
              <a:ext cx="7443263" cy="1823075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509077">
                      <a:extLst>
                        <a:ext uri="{9D8B030D-6E8A-4147-A177-3AD203B41FA5}">
                          <a16:colId xmlns:a16="http://schemas.microsoft.com/office/drawing/2014/main" val="2299938317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2455977820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1555758196"/>
                        </a:ext>
                      </a:extLst>
                    </a:gridCol>
                    <a:gridCol w="1555061">
                      <a:extLst>
                        <a:ext uri="{9D8B030D-6E8A-4147-A177-3AD203B41FA5}">
                          <a16:colId xmlns:a16="http://schemas.microsoft.com/office/drawing/2014/main" val="3293816546"/>
                        </a:ext>
                      </a:extLst>
                    </a:gridCol>
                    <a:gridCol w="1269003">
                      <a:extLst>
                        <a:ext uri="{9D8B030D-6E8A-4147-A177-3AD203B41FA5}">
                          <a16:colId xmlns:a16="http://schemas.microsoft.com/office/drawing/2014/main" val="259720482"/>
                        </a:ext>
                      </a:extLst>
                    </a:gridCol>
                  </a:tblGrid>
                  <a:tr h="7059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4421" marR="74421" marT="74421" marB="37210" anchor="ctr">
                        <a:blipFill>
                          <a:blip r:embed="rId3"/>
                          <a:stretch>
                            <a:fillRect l="-403" t="-862" r="-393145" b="-1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4421" marR="74421" marT="74421" marB="37210" anchor="ctr">
                        <a:blipFill>
                          <a:blip r:embed="rId3"/>
                          <a:stretch>
                            <a:fillRect l="-97647" t="-862" r="-282353" b="-1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4421" marR="74421" marT="74421" marB="37210" anchor="ctr">
                        <a:blipFill>
                          <a:blip r:embed="rId3"/>
                          <a:stretch>
                            <a:fillRect l="-197647" t="-862" r="-182353" b="-1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4421" marR="74421" marT="74421" marB="37210" anchor="ctr">
                        <a:blipFill>
                          <a:blip r:embed="rId3"/>
                          <a:stretch>
                            <a:fillRect l="-296484" t="-862" r="-81641" b="-1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4421" marR="74421" marT="74421" marB="37210" anchor="ctr">
                        <a:blipFill>
                          <a:blip r:embed="rId3"/>
                          <a:stretch>
                            <a:fillRect l="-487981" t="-862" r="-481" b="-16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6667730"/>
                      </a:ext>
                    </a:extLst>
                  </a:tr>
                  <a:tr h="279271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847.4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186.3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202.1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445.4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1620451794"/>
                      </a:ext>
                    </a:extLst>
                  </a:tr>
                  <a:tr h="279271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1.0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725.3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168.8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206.4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386.4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2857507175"/>
                      </a:ext>
                    </a:extLst>
                  </a:tr>
                  <a:tr h="279271"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1.5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674.0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149.9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215.8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361.7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124296886"/>
                      </a:ext>
                    </a:extLst>
                  </a:tr>
                  <a:tr h="279271"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2.0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>
                              <a:solidFill>
                                <a:schemeClr val="tx1"/>
                              </a:solidFill>
                            </a:rPr>
                            <a:t>649.7</a:t>
                          </a:r>
                          <a:endParaRPr lang="en-US" sz="11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152.4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221.6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100" cap="none" spc="0" dirty="0">
                              <a:solidFill>
                                <a:schemeClr val="tx1"/>
                              </a:solidFill>
                            </a:rPr>
                            <a:t>351.6</a:t>
                          </a:r>
                          <a:endParaRPr lang="en-US" sz="11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4421" marR="74421" marT="74421" marB="37210"/>
                    </a:tc>
                    <a:extLst>
                      <a:ext uri="{0D108BD9-81ED-4DB2-BD59-A6C34878D82A}">
                        <a16:rowId xmlns:a16="http://schemas.microsoft.com/office/drawing/2014/main" val="21622545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8172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AB51-F5FA-4E85-9C97-E6BED1DC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936000"/>
            <a:ext cx="8568000" cy="468000"/>
          </a:xfrm>
        </p:spPr>
        <p:txBody>
          <a:bodyPr wrap="square" anchor="ctr">
            <a:normAutofit/>
          </a:bodyPr>
          <a:lstStyle/>
          <a:p>
            <a:r>
              <a:rPr lang="de-DE" dirty="0"/>
              <a:t>Results and 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F2F5-9A28-EBD7-DA9D-DA5D4FBA72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8000" y="1584000"/>
            <a:ext cx="8568000" cy="2314800"/>
          </a:xfrm>
        </p:spPr>
        <p:txBody>
          <a:bodyPr wrap="square" anchor="t">
            <a:normAutofit/>
          </a:bodyPr>
          <a:lstStyle/>
          <a:p>
            <a:r>
              <a:rPr lang="de-DE" b="1" u="sng" dirty="0"/>
              <a:t>End effector Accuracy to Bulk Modulus</a:t>
            </a:r>
          </a:p>
          <a:p>
            <a:pPr marL="0" indent="0">
              <a:buNone/>
            </a:pPr>
            <a:endParaRPr lang="de-DE" b="1" u="sng" dirty="0"/>
          </a:p>
          <a:p>
            <a:pPr marL="0" indent="0">
              <a:buNone/>
            </a:pPr>
            <a:r>
              <a:rPr lang="de-DE" dirty="0"/>
              <a:t>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BEB10E0-80BA-1024-EA96-632CD9F256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1182608"/>
                  </p:ext>
                </p:extLst>
              </p:nvPr>
            </p:nvGraphicFramePr>
            <p:xfrm>
              <a:off x="457200" y="2895600"/>
              <a:ext cx="8100178" cy="21280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943648">
                      <a:extLst>
                        <a:ext uri="{9D8B030D-6E8A-4147-A177-3AD203B41FA5}">
                          <a16:colId xmlns:a16="http://schemas.microsoft.com/office/drawing/2014/main" val="24209282"/>
                        </a:ext>
                      </a:extLst>
                    </a:gridCol>
                    <a:gridCol w="2520779">
                      <a:extLst>
                        <a:ext uri="{9D8B030D-6E8A-4147-A177-3AD203B41FA5}">
                          <a16:colId xmlns:a16="http://schemas.microsoft.com/office/drawing/2014/main" val="2005386181"/>
                        </a:ext>
                      </a:extLst>
                    </a:gridCol>
                    <a:gridCol w="2635751">
                      <a:extLst>
                        <a:ext uri="{9D8B030D-6E8A-4147-A177-3AD203B41FA5}">
                          <a16:colId xmlns:a16="http://schemas.microsoft.com/office/drawing/2014/main" val="34299705"/>
                        </a:ext>
                      </a:extLst>
                    </a:gridCol>
                  </a:tblGrid>
                  <a:tr h="62515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>
                                        <a:latin typeface="Cambria Math" panose="02040503050406030204" pitchFamily="18" charset="0"/>
                                      </a:rPr>
                                      <m:t>𝑮𝑷𝒂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sz="1800" b="1">
                                        <a:latin typeface="Cambria Math" panose="02040503050406030204" pitchFamily="18" charset="0"/>
                                      </a:rPr>
                                      <m:t>𝑹𝑴𝑺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/>
                        </a:p>
                        <a:p>
                          <a:r>
                            <a:rPr lang="en-US" sz="1800" b="1"/>
                            <a:t>[mm]</a:t>
                          </a:r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dirty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de-DE" sz="1800" b="1" dirty="0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1800" b="1" dirty="0">
                                        <a:latin typeface="Cambria Math" panose="02040503050406030204" pitchFamily="18" charset="0"/>
                                      </a:rPr>
                                      <m:t>𝒆𝒂𝒏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b="1"/>
                        </a:p>
                        <a:p>
                          <a:r>
                            <a:rPr lang="en-US" sz="1800" b="1"/>
                            <a:t>[mm]</a:t>
                          </a:r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4027599022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0.5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827.9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211.3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4005600924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1.0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775.6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215.4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388284642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1.5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753.2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229.1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443519553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2.0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739.4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dirty="0"/>
                            <a:t>228.8</a:t>
                          </a:r>
                          <a:endParaRPr lang="en-US" sz="1800" dirty="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3203835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BEB10E0-80BA-1024-EA96-632CD9F256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1182608"/>
                  </p:ext>
                </p:extLst>
              </p:nvPr>
            </p:nvGraphicFramePr>
            <p:xfrm>
              <a:off x="457200" y="2895600"/>
              <a:ext cx="8100178" cy="212808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2943648">
                      <a:extLst>
                        <a:ext uri="{9D8B030D-6E8A-4147-A177-3AD203B41FA5}">
                          <a16:colId xmlns:a16="http://schemas.microsoft.com/office/drawing/2014/main" val="24209282"/>
                        </a:ext>
                      </a:extLst>
                    </a:gridCol>
                    <a:gridCol w="2520779">
                      <a:extLst>
                        <a:ext uri="{9D8B030D-6E8A-4147-A177-3AD203B41FA5}">
                          <a16:colId xmlns:a16="http://schemas.microsoft.com/office/drawing/2014/main" val="2005386181"/>
                        </a:ext>
                      </a:extLst>
                    </a:gridCol>
                    <a:gridCol w="2635751">
                      <a:extLst>
                        <a:ext uri="{9D8B030D-6E8A-4147-A177-3AD203B41FA5}">
                          <a16:colId xmlns:a16="http://schemas.microsoft.com/office/drawing/2014/main" val="34299705"/>
                        </a:ext>
                      </a:extLst>
                    </a:gridCol>
                  </a:tblGrid>
                  <a:tr h="6412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2592" marR="92592" marT="46296" marB="46296">
                        <a:blipFill>
                          <a:blip r:embed="rId2"/>
                          <a:stretch>
                            <a:fillRect l="-207" t="-952" r="-175569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2592" marR="92592" marT="46296" marB="46296">
                        <a:blipFill>
                          <a:blip r:embed="rId2"/>
                          <a:stretch>
                            <a:fillRect l="-116908" t="-952" r="-104831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2592" marR="92592" marT="46296" marB="46296">
                        <a:blipFill>
                          <a:blip r:embed="rId2"/>
                          <a:stretch>
                            <a:fillRect l="-207870" t="-952" r="-463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7599022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0.5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827.9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211.3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4005600924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1.0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775.6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215.4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388284642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1.5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753.2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229.1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443519553"/>
                      </a:ext>
                    </a:extLst>
                  </a:tr>
                  <a:tr h="371712"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2.0 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/>
                            <a:t>739.4</a:t>
                          </a:r>
                          <a:endParaRPr lang="en-US" sz="1800"/>
                        </a:p>
                      </a:txBody>
                      <a:tcPr marL="92592" marR="92592" marT="46296" marB="46296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dirty="0"/>
                            <a:t>228.8</a:t>
                          </a:r>
                          <a:endParaRPr lang="en-US" sz="1800" dirty="0"/>
                        </a:p>
                      </a:txBody>
                      <a:tcPr marL="92592" marR="92592" marT="46296" marB="46296"/>
                    </a:tc>
                    <a:extLst>
                      <a:ext uri="{0D108BD9-81ED-4DB2-BD59-A6C34878D82A}">
                        <a16:rowId xmlns:a16="http://schemas.microsoft.com/office/drawing/2014/main" val="13203835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060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5D9F-931D-5566-5F3D-0AB8971D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Results and Discussion </a:t>
            </a:r>
            <a:endParaRPr lang="en-US" dirty="0"/>
          </a:p>
        </p:txBody>
      </p:sp>
      <p:pic>
        <p:nvPicPr>
          <p:cNvPr id="5" name="Content Placeholder 4" descr="A graph of a number of blue and red lines&#10;&#10;AI-generated content may be incorrect.">
            <a:extLst>
              <a:ext uri="{FF2B5EF4-FFF2-40B4-BE49-F238E27FC236}">
                <a16:creationId xmlns:a16="http://schemas.microsoft.com/office/drawing/2014/main" id="{677068AC-1D2A-F910-E30C-62902835A2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50037" y="1584325"/>
            <a:ext cx="8243927" cy="4878388"/>
          </a:xfrm>
        </p:spPr>
      </p:pic>
    </p:spTree>
    <p:extLst>
      <p:ext uri="{BB962C8B-B14F-4D97-AF65-F5344CB8AC3E}">
        <p14:creationId xmlns:p14="http://schemas.microsoft.com/office/powerpoint/2010/main" val="1783059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987E-BACA-6927-9AC6-287C57E4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Conclusion &amp; Future Work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54FB-C1C8-C999-B2AD-173CC928B5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dirty="0"/>
              <a:t>A model that bridges the gap between rigid multibody mechanics and nonlinear hydraulic dynamics was successfully developed. </a:t>
            </a:r>
          </a:p>
          <a:p>
            <a:r>
              <a:rPr lang="de-DE" dirty="0"/>
              <a:t>The simulaton captures the bidirectional coupling i.e. actuator forces drive the structure while structural loads induce transients.</a:t>
            </a:r>
          </a:p>
          <a:p>
            <a:r>
              <a:rPr lang="de-DE" dirty="0"/>
              <a:t>The results from valiadtion confirm the model physical intergrity specifically the ability to replicate „stiff“ yet oscillatory nature of hydraulic machinery and sensitivity of delays to fluid compressibility.</a:t>
            </a:r>
          </a:p>
          <a:p>
            <a:r>
              <a:rPr lang="de-DE" dirty="0"/>
              <a:t>This validated model will serve as a digital twin for developing data-driven control methods.</a:t>
            </a:r>
          </a:p>
          <a:p>
            <a:r>
              <a:rPr lang="de-DE" dirty="0"/>
              <a:t>The goals are to learn the complex nonlinear hydraulic-mechanical coupling then develop advanced control architectures capable hydraulic delays compensation.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3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51C7-ED5F-075E-A2BF-681CE852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2819400"/>
            <a:ext cx="8568000" cy="2209800"/>
          </a:xfrm>
        </p:spPr>
        <p:txBody>
          <a:bodyPr/>
          <a:lstStyle/>
          <a:p>
            <a:r>
              <a:rPr lang="de-DE" sz="6000" dirty="0"/>
              <a:t>Questions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117208831"/>
      </p:ext>
    </p:extLst>
  </p:cSld>
  <p:clrMapOvr>
    <a:masterClrMapping/>
  </p:clrMapOvr>
</p:sld>
</file>

<file path=ppt/theme/theme1.xml><?xml version="1.0" encoding="utf-8"?>
<a:theme xmlns:a="http://schemas.openxmlformats.org/drawingml/2006/main" name="rrlab_slides_4_3">
  <a:themeElements>
    <a:clrScheme name="TU KL Farben">
      <a:dk1>
        <a:sysClr val="windowText" lastClr="000000"/>
      </a:dk1>
      <a:lt1>
        <a:sysClr val="window" lastClr="FFFFFF"/>
      </a:lt1>
      <a:dk2>
        <a:srgbClr val="0E3192"/>
      </a:dk2>
      <a:lt2>
        <a:srgbClr val="CCCCCC"/>
      </a:lt2>
      <a:accent1>
        <a:srgbClr val="0E3192"/>
      </a:accent1>
      <a:accent2>
        <a:srgbClr val="FE0009"/>
      </a:accent2>
      <a:accent3>
        <a:srgbClr val="CCCCCC"/>
      </a:accent3>
      <a:accent4>
        <a:srgbClr val="470074"/>
      </a:accent4>
      <a:accent5>
        <a:srgbClr val="4EBCCE"/>
      </a:accent5>
      <a:accent6>
        <a:srgbClr val="FFFF00"/>
      </a:accent6>
      <a:hlink>
        <a:srgbClr val="0E3192"/>
      </a:hlink>
      <a:folHlink>
        <a:srgbClr val="0E3192"/>
      </a:folHlink>
    </a:clrScheme>
    <a:fontScheme name="TU Kl Schriftarten">
      <a:majorFont>
        <a:latin typeface="Calibri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E319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63C38A5-9394-45F9-8A07-BE3BC3F89C31}" vid="{5D3FD9B3-DDE0-429D-9CC1-4A12AA5391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rrlab_slides_4_3</Template>
  <TotalTime>4615</TotalTime>
  <Words>988</Words>
  <Application>Microsoft Office PowerPoint</Application>
  <PresentationFormat>On-screen Show (4:3)</PresentationFormat>
  <Paragraphs>190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Verdana</vt:lpstr>
      <vt:lpstr>Wingdings</vt:lpstr>
      <vt:lpstr>rrlab_slides_4_3</vt:lpstr>
      <vt:lpstr>Mechanical-Hydraulic Modeling of an Embankment Mower in Simscape </vt:lpstr>
      <vt:lpstr>Outline </vt:lpstr>
      <vt:lpstr>Introduction and Motivation </vt:lpstr>
      <vt:lpstr>Theoratical Background </vt:lpstr>
      <vt:lpstr>Simscape versus Robot Engines </vt:lpstr>
      <vt:lpstr>Mechanical Subsystem (1)</vt:lpstr>
      <vt:lpstr>Mechanical Subsystem (2)</vt:lpstr>
      <vt:lpstr>Hydraulic Subsystem (1) </vt:lpstr>
      <vt:lpstr>Hydraulic Subsystem (2) </vt:lpstr>
      <vt:lpstr>Integrated System </vt:lpstr>
      <vt:lpstr>Control Design</vt:lpstr>
      <vt:lpstr>Control Design  </vt:lpstr>
      <vt:lpstr>Simulation </vt:lpstr>
      <vt:lpstr>Validation Strategy (Hydraulic Actuation Delay) </vt:lpstr>
      <vt:lpstr>Validation Strategy (Task Space Tracking Error) </vt:lpstr>
      <vt:lpstr>Results and Discussion </vt:lpstr>
      <vt:lpstr>Results and Discussion</vt:lpstr>
      <vt:lpstr>Results and Discussion </vt:lpstr>
      <vt:lpstr>Conclusion &amp; Future Work 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ms008435@mslic.uni-kl.de</dc:creator>
  <cp:lastModifiedBy>ms008435@mslic.uni-kl.de</cp:lastModifiedBy>
  <cp:revision>10</cp:revision>
  <dcterms:created xsi:type="dcterms:W3CDTF">2025-11-11T13:15:57Z</dcterms:created>
  <dcterms:modified xsi:type="dcterms:W3CDTF">2025-12-11T15:23:46Z</dcterms:modified>
</cp:coreProperties>
</file>